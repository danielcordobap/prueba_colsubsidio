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3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Presentación del Reto 3 de la prueba técnica: pronosticar el recaudo mensual de 2026, fijar el presupuesto anual y explicar con qué margen puede desviarse.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Más que un número, la Dirección Financiera necesita un presupuesto defendible. Por eso el trabajo responde tres preguntas: cuánto recaudaremos mes a mes, qué margen de error tiene ese número y qué patrones o variables lo mueven. El camino fue: revisar los datos, comparar modelos con un examen honesto, explicar el patrón y proponer cómo usar el presupuesto.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base tiene 132 meses completos, de enero de 2015 a diciembre de 2025, sin datos faltantes ni repetidos. El recaudo de 2025 fue de 2,51 billones de pesos. En promedio el recaudo anual creció 15,1 % por año. El único año que cayó fue 2020 (-4,9 %), y en 2021 se recuperó con 22,9 %. En 2025 creció 15,8 %. La serie tiene tendencia creciente y un patrón que se repite cada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Pusimos a competir siete enfoques con el mismo examen: pronosticar cada año de 2021 a 2025 usando solo lo que se sabía antes de ese año. El suavizado exponencial (ETS) aditivo tuvo el menor error medio, 5,8 %, y reduce 66 % el error frente a repetir el mismo mes del año anterior. Su error ha bajado con los años: 9,6 % en 2021 y 2,1 % en 2025, el año que pronosticó sin verlo. Los modelos de aprendizaje automático (árboles) fueron más complejos y quedaron atrás. El MASE de 0,76 (menor que 1) confirma que supera al pronóstico ingenuo.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Separamos la serie en tendencia, patrón estacional y residuo. El patrón se repite cada año con una fuerza de 0,49 (en una escala de 0 a 1). Mayo (4,3 %) y junio (3,8 %) son los meses con más recaudo frente al nivel típico del año; agosto (-4,5 %) es el más bajo. Probamos tres métodos de descomposición: junio es un pico en los tres, pero el mes más bajo y el tamaño de diciembre dependen del método, y lo decimos tal cual.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Probamos si agregar variables externas (tasa de cambio, inflación, salario mínimo, desempleo, trabajadores afiliados y su historia) mejoraba el pronóstico. Un algoritmo genético eligió las 6 más útiles de 20, pero aun así el modelo con variables externas tuvo error de 2,6 % en 2025 frente a 2,1 % del modelo sin ellas. Además, 18 de cada 100 combinaciones de 6 variables elegidas al azar igualan o superan a la selección del algoritmo: no es señal. En el análisis explicativo ninguna variable muestra un efecto claro (el valor p más bajo es 0,30). Salario mínimo, tasa de cambio y trabajadores afiliados crecen casi en línea recta con los años y funcionan como un reloj, no como un efecto económico. Por eso el pronóstico y el presupuesto no dependen de proyecciones macroeconómicas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gráfico muestra el recaudo real en azul oscuro, cómo el modelo se ajusta a la historia en naranja y el pronóstico de 2025 que hizo sin ver ese año en amarillo: el error fue de 2,1 %. Esa es la prueba honesta. El ajuste a la historia es de 3,3 %, pero ese modelo sí vio esos datos. En azul está el pronóstico de 2026 con su rango probable del 80 %. El patrón anual se mantiene: el mes más bajo del año es enero (218 mil millones) y el más alto diciembre (250 mil millones).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presupuesto oficial es el pronóstico central del modelo: 2,801 billones de pesos, 11,72 % más que en 2025. El rango se calcula simulando 2.000 trayectorias completas del año, porque los meses no se equivocan de forma independiente: sumar intervalos mensuales subestimaría la incertidumbre. Con 80 % de probabilidad el recaudo quedará entre 2,68 y 2,92 billones, hasta 4,4 % por debajo o 4,3 % por encima del central. Ojo: el modelo proyecta un crecimiento de 11,7 %, menor que el 15,8 % de 2025; es un pronóstico prudente, y si la gerencia espera que el ritmo reciente continúe, debe decidirlo de forma explícita.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 esto podemos arrancar el presupuesto: usar el pronóstico central como base, el rango del 80 % para planear escenarios y comparar cada mes contra su banda para detectar desviaciones a tiempo. La regla de alerta y la frecuencia de actualización son propuestas por definir con la Dirección Financiera. Todo supone continuidad del régimen actual, sin choques como el de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377440" cy="453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965960"/>
            <a:ext cx="67665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0B3A63"/>
                </a:solidFill>
                <a:latin typeface="Calibri"/>
              </a:rPr>
              <a:t>Pronóstico y presupuesto del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A6878"/>
                </a:solidFill>
                <a:latin typeface="Calibri"/>
              </a:rPr>
              <a:t>Reto 3 · Prueba técnica Senior Data Scientist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5780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968B1"/>
                </a:solidFill>
                <a:latin typeface="Calibri"/>
              </a:rPr>
              <a:t>Daniel Alejandro Córdoba Pulido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10312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FFCF00"/>
                </a:solidFill>
                <a:latin typeface="Calibri"/>
              </a:rPr>
              <a:t>Reto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611880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Proyectar mes a mes cuánto recaudará Colsubsidio en 2026 y con qué margen puede desviarse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¿Cuánto recaudaremos en 2026 y con qué margen de error?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2011680"/>
            <a:ext cx="640080" cy="64008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A63"/>
                </a:solidFill>
                <a:latin typeface="Calibri"/>
              </a:rPr>
              <a:t>¿Cuánto recaudaremos?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918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Un pronóstico mes a mes para los 12 meses de 2026 y su total 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1999" y="2011680"/>
            <a:ext cx="640080" cy="64008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7889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A63"/>
                </a:solidFill>
                <a:latin typeface="Calibri"/>
              </a:rPr>
              <a:t>¿Con qué margen?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2918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Un rango probable honesto, que reconozca que los meses no se equivocan de forma independiente.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A63"/>
                </a:solidFill>
                <a:latin typeface="Calibri"/>
              </a:rPr>
              <a:t>¿Qué lo mueve?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El patrón del año y si las variables económicas externas ayudan a pronosticar.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968B1"/>
                </a:solidFill>
                <a:latin typeface="Calibri"/>
              </a:rPr>
              <a:t>Nuestro foco: un presupuesto simple de explicar, honesto y con su margen de error a la vista.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A6878"/>
                </a:solidFill>
                <a:latin typeface="Calibri"/>
              </a:rPr>
              <a:t>El camino que recorrimos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Entender los datos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08960" y="5650992"/>
            <a:ext cx="256032" cy="274320"/>
          </a:xfrm>
          <a:prstGeom prst="rightArrow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8328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Comparar modelos con un examen honesto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43600" y="5650992"/>
            <a:ext cx="256032" cy="274320"/>
          </a:xfrm>
          <a:prstGeom prst="rightArrow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3A63"/>
                </a:solidFill>
                <a:latin typeface="Calibri"/>
              </a:rPr>
              <a:t>Explicar el patrón y lo que no mueve el pronóstico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78240" y="5650992"/>
            <a:ext cx="256032" cy="274320"/>
          </a:xfrm>
          <a:prstGeom prst="rightArrow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5256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Proponer el presupuesto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Partimos de 11 años de recaudo mensual que crece con un patrón claro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00400" cy="53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968B1"/>
                </a:solidFill>
                <a:latin typeface="Calibri"/>
              </a:rPr>
              <a:t>132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05710"/>
            <a:ext cx="3200400" cy="511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de enero de 2015 a diciembre de 2025, sin datos faltantes ni repetidos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36576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383279"/>
            <a:ext cx="3200400" cy="53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968B1"/>
                </a:solidFill>
                <a:latin typeface="Calibri"/>
              </a:rPr>
              <a:t>2,51 billones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68750"/>
            <a:ext cx="3200400" cy="511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de pesos recaudados en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65760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3200400" cy="53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968B1"/>
                </a:solidFill>
                <a:latin typeface="Calibri"/>
              </a:rPr>
              <a:t>+15,1 %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31790"/>
            <a:ext cx="3200400" cy="557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crecimiento promedio por año; 2020 fue el único año que cayó</a:t>
            </a:r>
          </a:p>
        </p:txBody>
      </p:sp>
      <p:pic>
        <p:nvPicPr>
          <p:cNvPr id="15" name="Picture 14" descr="A_ser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37360"/>
            <a:ext cx="7223760" cy="34729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0560" y="5440680"/>
            <a:ext cx="7223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5A6878"/>
                </a:solidFill>
                <a:latin typeface="Calibri"/>
              </a:rPr>
              <a:t>El recaudo tiene tendencia creciente y un patrón que se repite cada año. En 2020 cayó 4,9 % y desde 2021 volvió a crecer.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El modelo más simple fue el que mejor pronosticó, probado en 5 años distintos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B_enfoq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6675120" cy="42158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691640"/>
            <a:ext cx="4160520" cy="141732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828800"/>
            <a:ext cx="370332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968B1"/>
                </a:solidFill>
                <a:latin typeface="Calibri"/>
              </a:rPr>
              <a:t>5,8 %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509520"/>
            <a:ext cx="370332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error medio del modelo elegido en 5 pruebas anuales (2021-2025)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246120"/>
            <a:ext cx="416052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3383279"/>
            <a:ext cx="370332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0968B1"/>
                </a:solidFill>
                <a:latin typeface="Calibri"/>
              </a:rPr>
              <a:t>2,1 %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000500"/>
            <a:ext cx="370332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error en 2025, pronosticado sin ver ese año; en 2021 fue de 9,6 %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617720"/>
            <a:ext cx="416052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4754880"/>
            <a:ext cx="370332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0968B1"/>
                </a:solidFill>
                <a:latin typeface="Calibri"/>
              </a:rPr>
              <a:t>66 %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372100"/>
            <a:ext cx="3703320" cy="52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menos error que repetir el mismo mes del año anterior (la referencia más simple)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Cifras del análisis, por validar. Error medido como MAPE (error porcentual medio) sobre 12 meses en cada año de prueba; MASE medio del ETS: 0,761.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El recaudo tiene un patrón anual: mayo y junio suben, agosto es el mes más bajo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C_estaciona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6675120" cy="41280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737360"/>
            <a:ext cx="425196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0" y="2011679"/>
            <a:ext cx="685800" cy="68580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847088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3A63"/>
                </a:solidFill>
                <a:latin typeface="Calibri"/>
              </a:rPr>
              <a:t>+4,3 %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0428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Mayo y junio</a:t>
            </a:r>
          </a:p>
          <a:p>
            <a:pPr algn="l"/>
            <a:r>
              <a:rPr sz="1200" b="0" i="0">
                <a:solidFill>
                  <a:srgbClr val="5A6878"/>
                </a:solidFill>
                <a:latin typeface="Calibri"/>
              </a:rPr>
              <a:t>los meses de mayor recaudo (mayo 4,3 %, junio 3,8 %)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108960"/>
            <a:ext cx="425196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589520" y="3383279"/>
            <a:ext cx="685800" cy="68580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3218688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3A63"/>
                </a:solidFill>
                <a:latin typeface="Calibri"/>
              </a:rPr>
              <a:t>−4,5 %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675887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Agosto</a:t>
            </a:r>
          </a:p>
          <a:p>
            <a:pPr algn="l"/>
            <a:r>
              <a:rPr sz="1200" b="0" i="0">
                <a:solidFill>
                  <a:srgbClr val="5A6878"/>
                </a:solidFill>
                <a:latin typeface="Calibri"/>
              </a:rPr>
              <a:t>el mes más bajo del año frente al nivel típico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480560"/>
            <a:ext cx="425196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0" y="4754880"/>
            <a:ext cx="685800" cy="685800"/>
          </a:xfrm>
          <a:prstGeom prst="ellipse">
            <a:avLst/>
          </a:prstGeom>
          <a:solidFill>
            <a:srgbClr val="0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590288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3A63"/>
                </a:solidFill>
                <a:latin typeface="Calibri"/>
              </a:rPr>
              <a:t>+1,7 %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04748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Diciembre</a:t>
            </a:r>
          </a:p>
          <a:p>
            <a:pPr algn="l"/>
            <a:r>
              <a:rPr sz="1200" b="0" i="0">
                <a:solidFill>
                  <a:srgbClr val="5A6878"/>
                </a:solidFill>
                <a:latin typeface="Calibri"/>
              </a:rPr>
              <a:t>sube, pero su tamaño depende del método de análisis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897880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Cifras verificadas en el ledger (C-R3-012 a 015). Junio es pico en los tres métodos probados; el mes más bajo y diciembre dependen del método.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Las variables económicas externas no mejoran el pronóstico, por eso el presupuesto no depende de ellas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D_vari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7589520" cy="3184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783080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920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3A63"/>
                </a:solidFill>
                <a:latin typeface="Calibri"/>
              </a:rPr>
              <a:t>Cómo leerlo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77440"/>
            <a:ext cx="2971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Con variables externas el error sube de 2,1 % a 2,6 %.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18 de cada 100 selecciones al azar rinden igual o mejor.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Ninguna variable tiene un efecto claro (valor p por encima de 0,05).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57800"/>
            <a:ext cx="11109960" cy="777240"/>
          </a:xfrm>
          <a:prstGeom prst="roundRect">
            <a:avLst>
              <a:gd name="adj" fmla="val 7000"/>
            </a:avLst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3A63"/>
                </a:solidFill>
                <a:latin typeface="Calibri"/>
              </a:rPr>
              <a:t>Por eso el presupuesto no depende de proyecciones de tasa de cambio, inflación, desempleo o salario mínimo de 2026, que además están sujetas a decisiones políticas.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A6878"/>
                </a:solidFill>
                <a:latin typeface="Calibri"/>
              </a:rPr>
              <a:t>Cifras del análisis, por validar. Error en el hold-out de 2025; 150 combinaciones al azar de 6 variables; valor p del análisis explicativo con variables rezagadas 12 meses.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El pronóstico 2026 sigue el patrón de los últimos años y acierta cuando se prueba sin ver 2025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E_pronost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00200"/>
            <a:ext cx="10515600" cy="4506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Cifras del análisis, por validar. El rango mensual del 80 % sale de la misma simulación de 2.000 trayectorias; error de la prueba de 2025: 2,1 %.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Presupuesto 2026: 2,80 billones, con un rango probable de 2,68 a 2,92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_presupues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37360"/>
            <a:ext cx="6766560" cy="39905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737360"/>
            <a:ext cx="41148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74519"/>
            <a:ext cx="3657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968B1"/>
                </a:solidFill>
                <a:latin typeface="Calibri"/>
              </a:rPr>
              <a:t>2,80 billones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96490"/>
            <a:ext cx="3657600" cy="575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recaudo 2026 proyectado: 11,7 % más que en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200400"/>
            <a:ext cx="41148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3657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968B1"/>
                </a:solidFill>
                <a:latin typeface="Calibri"/>
              </a:rPr>
              <a:t>−4,4 % / +4,3 %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9530"/>
            <a:ext cx="3657600" cy="575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margen probable (80 %) por debajo y por encima del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663440"/>
            <a:ext cx="411480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4800600"/>
            <a:ext cx="3657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968B1"/>
                </a:solidFill>
                <a:latin typeface="Calibri"/>
              </a:rPr>
              <a:t>11,7 % vs 15,8 %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22570"/>
            <a:ext cx="3657600" cy="621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crecimiento proyectado frente al de 2025: el pronóstico es prudente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Total e intervalo verificados con código independiente en el ledger (C-R3-016 a 018). Intervalo del 80 % por simulación de 2.000 trayectorias conjuntas del año.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68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Un presupuesto respaldado por evidencia: usarlo con su rango y vigilarlo mes a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FE3F3"/>
                </a:solidFill>
                <a:latin typeface="Calibri"/>
              </a:rPr>
              <a:t>Problema 3 · Pronóstico y presupuesto de recaudo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FE3F3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965960"/>
            <a:ext cx="548640" cy="54864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3A6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116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B3A63"/>
                </a:solidFill>
                <a:latin typeface="Calibri"/>
              </a:rPr>
              <a:t>Usar 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Presupuesto base 2026: 2,80 billones (11,7 % sobre 2025).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Rango para escenarios: de 2,68 a 2,92 billones.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Calendario mensual con el patrón del año: más recaudo en mayo y junio, menos en agosto.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37360"/>
            <a:ext cx="352044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1999" y="1965960"/>
            <a:ext cx="548640" cy="54864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3A63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799" y="20116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B3A63"/>
                </a:solidFill>
                <a:latin typeface="Calibri"/>
              </a:rPr>
              <a:t>Vigilar mes a 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74320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Comparar cada mes real contra su banda del 80 %.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Propuesta: revisar el modelo si dos meses seguidos quedan fuera de la banda.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Reentrenar con los datos nuevos cada trimestre.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37360"/>
            <a:ext cx="352044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3A63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B3A63"/>
                </a:solidFill>
                <a:latin typeface="Calibri"/>
              </a:rPr>
              <a:t>Para fortalecer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Decidir si se asume que el ritmo reciente (15,8 %) continúa; el modelo es más prudente (11,7 %).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Incorporar información que el modelo no ve: cambios de política o hechos extraordinarios.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sz="1350" b="0" i="0">
                <a:solidFill>
                  <a:srgbClr val="1F2D3D"/>
                </a:solidFill>
                <a:latin typeface="Calibri"/>
              </a:rPr>
              <a:t>Probar de nuevo variables externas si se dispone de proyecciones confiables.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CF00"/>
                </a:solidFill>
                <a:latin typeface="Calibri"/>
              </a:rPr>
              <a:t>2,80 billones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53212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de recaudo proyectado para 2026, con un modelo simple de explicar, probado de forma honesta y con su rango de incertidumbre a la vista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1766</Words>
  <Application>Microsoft Office PowerPoint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Cordoba</cp:lastModifiedBy>
  <cp:revision>1</cp:revision>
  <dcterms:created xsi:type="dcterms:W3CDTF">2013-01-27T09:14:16Z</dcterms:created>
  <dcterms:modified xsi:type="dcterms:W3CDTF">2026-10-05T07:02:42Z</dcterms:modified>
  <cp:category/>
</cp:coreProperties>
</file>