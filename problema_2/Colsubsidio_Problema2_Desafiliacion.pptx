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5951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Presentación del Reto 2 de la prueba técnica: anticipar qué empresas afiliadas se desafiliarán, explicar por qué y proponer cómo usar el modelo en la gestión comercial.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Más que un número, el negocio necesita decisiones. Por eso el trabajo responde tres preguntas: qué empresas tienen más riesgo de desafiliarse, qué factores empujan ese riesgo y cuánto, y a quién conviene llamar primero con recursos limitados. El camino fue: revisar los datos, construir y comprobar el modelo, explicarlo factor por factor y proponer cómo usarlo.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base tiene 10.000 empresas con 12 características que agrupamos en tres familias para poder explicarlas. El 30,3 % se desafilió. Ya en los datos crudos el riesgo se ve: entre las empresas con rotación de personal más alta se desafilió el 51 %, frente a 17 % entre las de rotación más baja; con la satisfacción pasa al revés: 56 % entre las menos satisfechas y 8 % entre las más satisfechas. Sin datos faltantes ni repetidos.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Pusimos a competir tres enfoques con el mismo examen interno. La regresión logística, el bosque de árboles y los árboles potenciados quedaron prácticamente empatados en precisión para detectar abandonos (0,756, 0,742 y 0,757). Cuando hay empate técnico elegimos el modelo más simple, porque se explica directamente. Después lo probamos en 2.000 empresas apartadas desde el inicio: con un umbral estándar acierta 78,6 % de las veces y detecta 466 de las 606 desafiliaciones reales.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quedarnos con un modelo corto y fácil de explicar usamos un algoritmo genético: una búsqueda que prueba muchas combinaciones de factores y premia a las que aciertan con menos factores. La corrimos cinco veces de forma independiente y nos quedamos con los factores elegidos en al menos 3 de las 5 corridas. Crecimiento del empleo, rotación, satisfacción y uso de servicios se eligieron siempre; antigüedad 4 de 5; número de trabajadores y digitalización 3 de 5. Con 7 factores el modelo pierde poca precisión frente a usar los 16 campos disponibles: de 0,752 a 0,739 en el examen final. Lo decimos tal cual y lo aceptamos a cambio de un modelo mucho más claro.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explicación del modelo. Cada barra dice cuánto cambian las probabilidades relativas de desafiliarse cuando un factor sube una unidad típica (una desviación estándar), con los demás factores iguales. La rotación es el único que aumenta el riesgo: +142 %. Los demás lo reducen: satisfacción -57 %, crecimiento del empleo -56 %, antigüedad -52 %, uso de servicios -50 %, digitalización -29 % y número de trabajadores -22 %. Las líneas negras son el rango del 95 % de confianza: ninguna cruza el cero, así que la dirección de cada efecto es estable. Son asociaciones del modelo, útiles para priorizar acciones que luego validamos con un piloto.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matriz de confusión en las 2.000 empresas de prueba, que el modelo nunca vio (606 se desafiliaron). A la izquierda, con el umbral estándar de 0,5: detecta 466 de 606 (77 %), a cambio de 288 falsas alarmas; de cada 100 empresas señaladas, unas 62 realmente se van. Se le escapan 140. A la derecha, la forma en que lo usaría el área comercial: llamar solo al 20 % de mayor riesgo, 400 cuentas. Se capturan 305 desafiliaciones y 76 de cada 100 llamadas son a empresas que de verdad se iban; el costo es que quedan 301 sin atender.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Ordenamos las 2.000 empresas de prueba por riesgo y las dividimos en diez grupos de 200. En el grupo de mayor riesgo se desafilió el 88 %, frente al 30 % del promedio de la cartera; en el de menor riesgo, solo el 1 %. Los dos primeros grupos juntan 305 de las 606 desafiliaciones (50 %) con solo 400 empresas, 2,5 veces más que llamando al azar. Además calibramos las probabilidades: sin calibrar el modelo promediaba 42 % de riesgo y real era 30 %; calibradas promedian 30 %, así que cada probabilidad se lee como un riesgo real. Es un orden de prioridad: el valor económico de retener cada empresa y el costo de la gestión no están en los datos y deben aportarlos las áreas.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 esto podemos arrancar la próxima semana: llamar primero a las 400 empresas de mayor riesgo, aplicar acciones de bajo costo al siguiente grupo y seleccionar un piloto para las palancas que Colsubsidio puede mover. Todo lo demás son hipótesis hasta que el piloto hable. El tamaño y la duración del piloto, y el valor económico de retener una empresa, están por definir con la gerencia.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818120" y="0"/>
            <a:ext cx="4373575" cy="6858000"/>
          </a:xfrm>
          <a:prstGeom prst="rect">
            <a:avLst/>
          </a:prstGeom>
          <a:solidFill>
            <a:srgbClr val="096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png"/>
          <p:cNvPicPr>
            <a:picLocks noChangeAspect="1"/>
          </p:cNvPicPr>
          <p:nvPr/>
        </p:nvPicPr>
        <p:blipFill>
          <a:blip r:embed="rId3"/>
          <a:stretch>
            <a:fillRect/>
          </a:stretch>
        </p:blipFill>
        <p:spPr>
          <a:xfrm>
            <a:off x="640080" y="640080"/>
            <a:ext cx="2377440" cy="453837"/>
          </a:xfrm>
          <a:prstGeom prst="rect">
            <a:avLst/>
          </a:prstGeom>
        </p:spPr>
      </p:pic>
      <p:sp>
        <p:nvSpPr>
          <p:cNvPr id="4" name="TextBox 3"/>
          <p:cNvSpPr txBox="1"/>
          <p:nvPr/>
        </p:nvSpPr>
        <p:spPr>
          <a:xfrm>
            <a:off x="640080" y="1965960"/>
            <a:ext cx="6766560" cy="2194560"/>
          </a:xfrm>
          <a:prstGeom prst="rect">
            <a:avLst/>
          </a:prstGeom>
          <a:noFill/>
        </p:spPr>
        <p:txBody>
          <a:bodyPr wrap="square" lIns="0" tIns="0" rIns="0" bIns="0" anchor="t">
            <a:spAutoFit/>
          </a:bodyPr>
          <a:lstStyle/>
          <a:p>
            <a:pPr algn="l"/>
            <a:r>
              <a:rPr sz="4200" b="1" i="0">
                <a:solidFill>
                  <a:srgbClr val="0B3A63"/>
                </a:solidFill>
                <a:latin typeface="Calibri"/>
              </a:rPr>
              <a:t>Riesgo de desafiliación de empresas afiliadas</a:t>
            </a:r>
          </a:p>
        </p:txBody>
      </p:sp>
      <p:sp>
        <p:nvSpPr>
          <p:cNvPr id="5" name="TextBox 4"/>
          <p:cNvSpPr txBox="1"/>
          <p:nvPr/>
        </p:nvSpPr>
        <p:spPr>
          <a:xfrm>
            <a:off x="640080" y="4160520"/>
            <a:ext cx="6766560" cy="548640"/>
          </a:xfrm>
          <a:prstGeom prst="rect">
            <a:avLst/>
          </a:prstGeom>
          <a:noFill/>
        </p:spPr>
        <p:txBody>
          <a:bodyPr wrap="square" lIns="0" tIns="0" rIns="0" bIns="0" anchor="t">
            <a:spAutoFit/>
          </a:bodyPr>
          <a:lstStyle/>
          <a:p>
            <a:pPr algn="l"/>
            <a:r>
              <a:rPr sz="2000" b="0" i="0">
                <a:solidFill>
                  <a:srgbClr val="5A6878"/>
                </a:solidFill>
                <a:latin typeface="Calibri"/>
              </a:rPr>
              <a:t>Reto 2 · Prueba técnica Senior Data Scientist</a:t>
            </a:r>
          </a:p>
        </p:txBody>
      </p:sp>
      <p:sp>
        <p:nvSpPr>
          <p:cNvPr id="6" name="TextBox 5"/>
          <p:cNvSpPr txBox="1"/>
          <p:nvPr/>
        </p:nvSpPr>
        <p:spPr>
          <a:xfrm>
            <a:off x="640080" y="5257800"/>
            <a:ext cx="6766560" cy="548640"/>
          </a:xfrm>
          <a:prstGeom prst="rect">
            <a:avLst/>
          </a:prstGeom>
          <a:noFill/>
        </p:spPr>
        <p:txBody>
          <a:bodyPr wrap="square" lIns="0" tIns="0" rIns="0" bIns="0" anchor="t">
            <a:spAutoFit/>
          </a:bodyPr>
          <a:lstStyle/>
          <a:p>
            <a:pPr algn="l"/>
            <a:r>
              <a:rPr sz="2600" b="1" i="0">
                <a:solidFill>
                  <a:srgbClr val="0968B1"/>
                </a:solidFill>
                <a:latin typeface="Calibri"/>
              </a:rPr>
              <a:t>Daniel Alejandro Córdoba Pulido</a:t>
            </a:r>
          </a:p>
        </p:txBody>
      </p:sp>
      <p:sp>
        <p:nvSpPr>
          <p:cNvPr id="7" name="TextBox 6"/>
          <p:cNvSpPr txBox="1"/>
          <p:nvPr/>
        </p:nvSpPr>
        <p:spPr>
          <a:xfrm>
            <a:off x="8183879" y="2103120"/>
            <a:ext cx="3566160" cy="1280160"/>
          </a:xfrm>
          <a:prstGeom prst="rect">
            <a:avLst/>
          </a:prstGeom>
          <a:noFill/>
        </p:spPr>
        <p:txBody>
          <a:bodyPr wrap="square" lIns="0" tIns="0" rIns="0" bIns="0" anchor="t">
            <a:spAutoFit/>
          </a:bodyPr>
          <a:lstStyle/>
          <a:p>
            <a:pPr algn="l"/>
            <a:r>
              <a:rPr sz="7200" b="1" i="0">
                <a:solidFill>
                  <a:srgbClr val="FFCF00"/>
                </a:solidFill>
                <a:latin typeface="Calibri"/>
              </a:rPr>
              <a:t>Reto 2</a:t>
            </a:r>
          </a:p>
        </p:txBody>
      </p:sp>
      <p:sp>
        <p:nvSpPr>
          <p:cNvPr id="8" name="TextBox 7"/>
          <p:cNvSpPr txBox="1"/>
          <p:nvPr/>
        </p:nvSpPr>
        <p:spPr>
          <a:xfrm>
            <a:off x="8183879" y="3611880"/>
            <a:ext cx="3566160" cy="2011680"/>
          </a:xfrm>
          <a:prstGeom prst="rect">
            <a:avLst/>
          </a:prstGeom>
          <a:noFill/>
        </p:spPr>
        <p:txBody>
          <a:bodyPr wrap="square" lIns="0" tIns="0" rIns="0" bIns="0" anchor="t">
            <a:spAutoFit/>
          </a:bodyPr>
          <a:lstStyle/>
          <a:p>
            <a:pPr algn="l"/>
            <a:r>
              <a:rPr sz="2000" b="0" i="0">
                <a:solidFill>
                  <a:srgbClr val="FFFFFF"/>
                </a:solidFill>
                <a:latin typeface="Calibri"/>
              </a:rPr>
              <a:t>Identificar qué empresas están por irse, entender qué las empuja y decidir a quién llamar primero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418320" cy="1097280"/>
          </a:xfrm>
          <a:prstGeom prst="rect">
            <a:avLst/>
          </a:prstGeom>
          <a:noFill/>
        </p:spPr>
        <p:txBody>
          <a:bodyPr wrap="square" lIns="0" tIns="0" rIns="0" bIns="0" anchor="t">
            <a:spAutoFit/>
          </a:bodyPr>
          <a:lstStyle/>
          <a:p>
            <a:pPr algn="l"/>
            <a:r>
              <a:rPr sz="2900" b="1" i="0">
                <a:solidFill>
                  <a:srgbClr val="0B3A63"/>
                </a:solidFill>
                <a:latin typeface="Calibri"/>
              </a:rPr>
              <a:t>¿Qué empresas están por irse y qué las empuja a hacerlo?</a:t>
            </a:r>
          </a:p>
        </p:txBody>
      </p:sp>
      <p:pic>
        <p:nvPicPr>
          <p:cNvPr id="3" name="Picture 2" descr="logo.png"/>
          <p:cNvPicPr>
            <a:picLocks noChangeAspect="1"/>
          </p:cNvPicPr>
          <p:nvPr/>
        </p:nvPicPr>
        <p:blipFill>
          <a:blip r:embed="rId3"/>
          <a:stretch>
            <a:fillRect/>
          </a:stretch>
        </p:blipFill>
        <p:spPr>
          <a:xfrm>
            <a:off x="10104120" y="457200"/>
            <a:ext cx="1554480" cy="296740"/>
          </a:xfrm>
          <a:prstGeom prst="rect">
            <a:avLst/>
          </a:prstGeom>
        </p:spPr>
      </p:pic>
      <p:sp>
        <p:nvSpPr>
          <p:cNvPr id="4" name="TextBox 3"/>
          <p:cNvSpPr txBox="1"/>
          <p:nvPr/>
        </p:nvSpPr>
        <p:spPr>
          <a:xfrm>
            <a:off x="548640" y="6428232"/>
            <a:ext cx="7315200" cy="228600"/>
          </a:xfrm>
          <a:prstGeom prst="rect">
            <a:avLst/>
          </a:prstGeom>
          <a:noFill/>
        </p:spPr>
        <p:txBody>
          <a:bodyPr wrap="square" lIns="0" tIns="0" rIns="0" bIns="0" anchor="t">
            <a:spAutoFit/>
          </a:bodyPr>
          <a:lstStyle/>
          <a:p>
            <a:pPr algn="l"/>
            <a:r>
              <a:rPr sz="1000" b="0" i="0">
                <a:solidFill>
                  <a:srgbClr val="5A6878"/>
                </a:solidFill>
                <a:latin typeface="Calibri"/>
              </a:rPr>
              <a:t>Problema 2 · Riesgo de desafiliación de empresas afiliadas</a:t>
            </a:r>
          </a:p>
        </p:txBody>
      </p:sp>
      <p:sp>
        <p:nvSpPr>
          <p:cNvPr id="5" name="TextBox 4"/>
          <p:cNvSpPr txBox="1"/>
          <p:nvPr/>
        </p:nvSpPr>
        <p:spPr>
          <a:xfrm>
            <a:off x="11064240" y="6428232"/>
            <a:ext cx="594360" cy="228600"/>
          </a:xfrm>
          <a:prstGeom prst="rect">
            <a:avLst/>
          </a:prstGeom>
          <a:noFill/>
        </p:spPr>
        <p:txBody>
          <a:bodyPr wrap="square" lIns="0" tIns="0" rIns="0" bIns="0" anchor="t">
            <a:spAutoFit/>
          </a:bodyPr>
          <a:lstStyle/>
          <a:p>
            <a:pPr algn="r"/>
            <a:r>
              <a:rPr sz="1000" b="0" i="0">
                <a:solidFill>
                  <a:srgbClr val="5A6878"/>
                </a:solidFill>
                <a:latin typeface="Calibri"/>
              </a:rPr>
              <a:t>2</a:t>
            </a:r>
          </a:p>
        </p:txBody>
      </p:sp>
      <p:sp>
        <p:nvSpPr>
          <p:cNvPr id="6" name="Rounded Rectangle 5"/>
          <p:cNvSpPr/>
          <p:nvPr/>
        </p:nvSpPr>
        <p:spPr>
          <a:xfrm>
            <a:off x="548640" y="1783080"/>
            <a:ext cx="3520440" cy="246888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59" y="2011680"/>
            <a:ext cx="640080" cy="640080"/>
          </a:xfrm>
          <a:prstGeom prst="ellipse">
            <a:avLst/>
          </a:prstGeom>
          <a:solidFill>
            <a:srgbClr val="0968B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1</a:t>
            </a:r>
          </a:p>
        </p:txBody>
      </p:sp>
      <p:sp>
        <p:nvSpPr>
          <p:cNvPr id="8" name="TextBox 7"/>
          <p:cNvSpPr txBox="1"/>
          <p:nvPr/>
        </p:nvSpPr>
        <p:spPr>
          <a:xfrm>
            <a:off x="822959" y="2788920"/>
            <a:ext cx="3017520" cy="457200"/>
          </a:xfrm>
          <a:prstGeom prst="rect">
            <a:avLst/>
          </a:prstGeom>
          <a:noFill/>
        </p:spPr>
        <p:txBody>
          <a:bodyPr wrap="square" lIns="0" tIns="0" rIns="0" bIns="0" anchor="t">
            <a:spAutoFit/>
          </a:bodyPr>
          <a:lstStyle/>
          <a:p>
            <a:pPr algn="l"/>
            <a:r>
              <a:rPr sz="2200" b="1" i="0">
                <a:solidFill>
                  <a:srgbClr val="0B3A63"/>
                </a:solidFill>
                <a:latin typeface="Calibri"/>
              </a:rPr>
              <a:t>¿Quién está en riesgo?</a:t>
            </a:r>
          </a:p>
        </p:txBody>
      </p:sp>
      <p:sp>
        <p:nvSpPr>
          <p:cNvPr id="9" name="TextBox 8"/>
          <p:cNvSpPr txBox="1"/>
          <p:nvPr/>
        </p:nvSpPr>
        <p:spPr>
          <a:xfrm>
            <a:off x="822959" y="3291840"/>
            <a:ext cx="3017520" cy="731520"/>
          </a:xfrm>
          <a:prstGeom prst="rect">
            <a:avLst/>
          </a:prstGeom>
          <a:noFill/>
        </p:spPr>
        <p:txBody>
          <a:bodyPr wrap="square" lIns="0" tIns="0" rIns="0" bIns="0" anchor="t">
            <a:spAutoFit/>
          </a:bodyPr>
          <a:lstStyle/>
          <a:p>
            <a:pPr algn="l"/>
            <a:r>
              <a:rPr sz="1500" b="0" i="0">
                <a:solidFill>
                  <a:srgbClr val="1F2D3D"/>
                </a:solidFill>
                <a:latin typeface="Calibri"/>
              </a:rPr>
              <a:t>Anticipar qué empresas se desafiliarán, incluso las que el modelo nunca vio.</a:t>
            </a:r>
          </a:p>
        </p:txBody>
      </p:sp>
      <p:sp>
        <p:nvSpPr>
          <p:cNvPr id="10" name="Rounded Rectangle 9"/>
          <p:cNvSpPr/>
          <p:nvPr/>
        </p:nvSpPr>
        <p:spPr>
          <a:xfrm>
            <a:off x="4297679" y="1783080"/>
            <a:ext cx="3520440" cy="246888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71999" y="2011680"/>
            <a:ext cx="640080" cy="640080"/>
          </a:xfrm>
          <a:prstGeom prst="ellipse">
            <a:avLst/>
          </a:prstGeom>
          <a:solidFill>
            <a:srgbClr val="0968B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2</a:t>
            </a:r>
          </a:p>
        </p:txBody>
      </p:sp>
      <p:sp>
        <p:nvSpPr>
          <p:cNvPr id="12" name="TextBox 11"/>
          <p:cNvSpPr txBox="1"/>
          <p:nvPr/>
        </p:nvSpPr>
        <p:spPr>
          <a:xfrm>
            <a:off x="4571999" y="2788920"/>
            <a:ext cx="3017520" cy="457200"/>
          </a:xfrm>
          <a:prstGeom prst="rect">
            <a:avLst/>
          </a:prstGeom>
          <a:noFill/>
        </p:spPr>
        <p:txBody>
          <a:bodyPr wrap="square" lIns="0" tIns="0" rIns="0" bIns="0" anchor="t">
            <a:spAutoFit/>
          </a:bodyPr>
          <a:lstStyle/>
          <a:p>
            <a:pPr algn="l"/>
            <a:r>
              <a:rPr sz="2200" b="1" i="0">
                <a:solidFill>
                  <a:srgbClr val="0B3A63"/>
                </a:solidFill>
                <a:latin typeface="Calibri"/>
              </a:rPr>
              <a:t>¿Qué las empuja?</a:t>
            </a:r>
          </a:p>
        </p:txBody>
      </p:sp>
      <p:sp>
        <p:nvSpPr>
          <p:cNvPr id="13" name="TextBox 12"/>
          <p:cNvSpPr txBox="1"/>
          <p:nvPr/>
        </p:nvSpPr>
        <p:spPr>
          <a:xfrm>
            <a:off x="4571999" y="3291840"/>
            <a:ext cx="3017520" cy="731520"/>
          </a:xfrm>
          <a:prstGeom prst="rect">
            <a:avLst/>
          </a:prstGeom>
          <a:noFill/>
        </p:spPr>
        <p:txBody>
          <a:bodyPr wrap="square" lIns="0" tIns="0" rIns="0" bIns="0" anchor="t">
            <a:spAutoFit/>
          </a:bodyPr>
          <a:lstStyle/>
          <a:p>
            <a:pPr algn="l"/>
            <a:r>
              <a:rPr sz="1500" b="0" i="0">
                <a:solidFill>
                  <a:srgbClr val="1F2D3D"/>
                </a:solidFill>
                <a:latin typeface="Calibri"/>
              </a:rPr>
              <a:t>Traducir el modelo a efectos claros: qué factores suben o bajan el riesgo.</a:t>
            </a:r>
          </a:p>
        </p:txBody>
      </p:sp>
      <p:sp>
        <p:nvSpPr>
          <p:cNvPr id="14" name="Rounded Rectangle 13"/>
          <p:cNvSpPr/>
          <p:nvPr/>
        </p:nvSpPr>
        <p:spPr>
          <a:xfrm>
            <a:off x="8046719" y="1783080"/>
            <a:ext cx="3520440" cy="246888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321040" y="2011680"/>
            <a:ext cx="640080" cy="640080"/>
          </a:xfrm>
          <a:prstGeom prst="ellipse">
            <a:avLst/>
          </a:prstGeom>
          <a:solidFill>
            <a:srgbClr val="0968B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3</a:t>
            </a:r>
          </a:p>
        </p:txBody>
      </p:sp>
      <p:sp>
        <p:nvSpPr>
          <p:cNvPr id="16" name="TextBox 15"/>
          <p:cNvSpPr txBox="1"/>
          <p:nvPr/>
        </p:nvSpPr>
        <p:spPr>
          <a:xfrm>
            <a:off x="8321040" y="2788920"/>
            <a:ext cx="3017520" cy="457200"/>
          </a:xfrm>
          <a:prstGeom prst="rect">
            <a:avLst/>
          </a:prstGeom>
          <a:noFill/>
        </p:spPr>
        <p:txBody>
          <a:bodyPr wrap="square" lIns="0" tIns="0" rIns="0" bIns="0" anchor="t">
            <a:spAutoFit/>
          </a:bodyPr>
          <a:lstStyle/>
          <a:p>
            <a:pPr algn="l"/>
            <a:r>
              <a:rPr sz="2200" b="1" i="0">
                <a:solidFill>
                  <a:srgbClr val="0B3A63"/>
                </a:solidFill>
                <a:latin typeface="Calibri"/>
              </a:rPr>
              <a:t>¿A quién llamar?</a:t>
            </a:r>
          </a:p>
        </p:txBody>
      </p:sp>
      <p:sp>
        <p:nvSpPr>
          <p:cNvPr id="17" name="TextBox 16"/>
          <p:cNvSpPr txBox="1"/>
          <p:nvPr/>
        </p:nvSpPr>
        <p:spPr>
          <a:xfrm>
            <a:off x="8321040" y="3291840"/>
            <a:ext cx="3017520" cy="731520"/>
          </a:xfrm>
          <a:prstGeom prst="rect">
            <a:avLst/>
          </a:prstGeom>
          <a:noFill/>
        </p:spPr>
        <p:txBody>
          <a:bodyPr wrap="square" lIns="0" tIns="0" rIns="0" bIns="0" anchor="t">
            <a:spAutoFit/>
          </a:bodyPr>
          <a:lstStyle/>
          <a:p>
            <a:pPr algn="l"/>
            <a:r>
              <a:rPr sz="1500" b="0" i="0">
                <a:solidFill>
                  <a:srgbClr val="1F2D3D"/>
                </a:solidFill>
                <a:latin typeface="Calibri"/>
              </a:rPr>
              <a:t>Ordenar la cartera por riesgo para concentrar el esfuerzo comercial.</a:t>
            </a:r>
          </a:p>
        </p:txBody>
      </p:sp>
      <p:sp>
        <p:nvSpPr>
          <p:cNvPr id="18" name="TextBox 17"/>
          <p:cNvSpPr txBox="1"/>
          <p:nvPr/>
        </p:nvSpPr>
        <p:spPr>
          <a:xfrm>
            <a:off x="548640" y="4526280"/>
            <a:ext cx="11064240" cy="365760"/>
          </a:xfrm>
          <a:prstGeom prst="rect">
            <a:avLst/>
          </a:prstGeom>
          <a:noFill/>
        </p:spPr>
        <p:txBody>
          <a:bodyPr wrap="square" lIns="0" tIns="0" rIns="0" bIns="0" anchor="t">
            <a:spAutoFit/>
          </a:bodyPr>
          <a:lstStyle/>
          <a:p>
            <a:pPr algn="l"/>
            <a:r>
              <a:rPr sz="1900" b="1" i="0">
                <a:solidFill>
                  <a:srgbClr val="0968B1"/>
                </a:solidFill>
                <a:latin typeface="Calibri"/>
              </a:rPr>
              <a:t>Nuestro foco: un modelo simple, que acierte y que cualquier equipo pueda leer.</a:t>
            </a:r>
          </a:p>
        </p:txBody>
      </p:sp>
      <p:sp>
        <p:nvSpPr>
          <p:cNvPr id="19" name="TextBox 18"/>
          <p:cNvSpPr txBox="1"/>
          <p:nvPr/>
        </p:nvSpPr>
        <p:spPr>
          <a:xfrm>
            <a:off x="548640" y="5029200"/>
            <a:ext cx="5486400" cy="320040"/>
          </a:xfrm>
          <a:prstGeom prst="rect">
            <a:avLst/>
          </a:prstGeom>
          <a:noFill/>
        </p:spPr>
        <p:txBody>
          <a:bodyPr wrap="square" lIns="0" tIns="0" rIns="0" bIns="0" anchor="t">
            <a:spAutoFit/>
          </a:bodyPr>
          <a:lstStyle/>
          <a:p>
            <a:pPr algn="l"/>
            <a:r>
              <a:rPr sz="1400" b="1" i="0">
                <a:solidFill>
                  <a:srgbClr val="5A6878"/>
                </a:solidFill>
                <a:latin typeface="Calibri"/>
              </a:rPr>
              <a:t>El camino que recorrimos</a:t>
            </a:r>
          </a:p>
        </p:txBody>
      </p:sp>
      <p:sp>
        <p:nvSpPr>
          <p:cNvPr id="20" name="Rounded Rectangle 19"/>
          <p:cNvSpPr/>
          <p:nvPr/>
        </p:nvSpPr>
        <p:spPr>
          <a:xfrm>
            <a:off x="548640" y="5349240"/>
            <a:ext cx="2514600" cy="868680"/>
          </a:xfrm>
          <a:prstGeom prst="roundRect">
            <a:avLst>
              <a:gd name="adj" fmla="val 7000"/>
            </a:avLst>
          </a:prstGeom>
          <a:solidFill>
            <a:srgbClr val="096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5349240"/>
            <a:ext cx="2240280" cy="868680"/>
          </a:xfrm>
          <a:prstGeom prst="rect">
            <a:avLst/>
          </a:prstGeom>
          <a:noFill/>
        </p:spPr>
        <p:txBody>
          <a:bodyPr wrap="square" lIns="0" tIns="0" rIns="0" bIns="0" anchor="ctr">
            <a:spAutoFit/>
          </a:bodyPr>
          <a:lstStyle/>
          <a:p>
            <a:pPr algn="ctr"/>
            <a:r>
              <a:rPr sz="1600" b="1" i="0">
                <a:solidFill>
                  <a:srgbClr val="FFFFFF"/>
                </a:solidFill>
                <a:latin typeface="Calibri"/>
              </a:rPr>
              <a:t>Entender los datos</a:t>
            </a:r>
          </a:p>
        </p:txBody>
      </p:sp>
      <p:sp>
        <p:nvSpPr>
          <p:cNvPr id="22" name="Right Arrow 21"/>
          <p:cNvSpPr/>
          <p:nvPr/>
        </p:nvSpPr>
        <p:spPr>
          <a:xfrm>
            <a:off x="3108960" y="5650992"/>
            <a:ext cx="256032" cy="274320"/>
          </a:xfrm>
          <a:prstGeom prst="rightArrow">
            <a:avLst/>
          </a:prstGeom>
          <a:solidFill>
            <a:srgbClr val="5A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383280" y="5349240"/>
            <a:ext cx="2514600" cy="868680"/>
          </a:xfrm>
          <a:prstGeom prst="roundRect">
            <a:avLst>
              <a:gd name="adj" fmla="val 7000"/>
            </a:avLst>
          </a:prstGeom>
          <a:solidFill>
            <a:srgbClr val="096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520440" y="5349240"/>
            <a:ext cx="2240280" cy="868680"/>
          </a:xfrm>
          <a:prstGeom prst="rect">
            <a:avLst/>
          </a:prstGeom>
          <a:noFill/>
        </p:spPr>
        <p:txBody>
          <a:bodyPr wrap="square" lIns="0" tIns="0" rIns="0" bIns="0" anchor="ctr">
            <a:spAutoFit/>
          </a:bodyPr>
          <a:lstStyle/>
          <a:p>
            <a:pPr algn="ctr"/>
            <a:r>
              <a:rPr sz="1600" b="1" i="0">
                <a:solidFill>
                  <a:srgbClr val="FFFFFF"/>
                </a:solidFill>
                <a:latin typeface="Calibri"/>
              </a:rPr>
              <a:t>Construir y comprobar el modelo</a:t>
            </a:r>
          </a:p>
        </p:txBody>
      </p:sp>
      <p:sp>
        <p:nvSpPr>
          <p:cNvPr id="25" name="Right Arrow 24"/>
          <p:cNvSpPr/>
          <p:nvPr/>
        </p:nvSpPr>
        <p:spPr>
          <a:xfrm>
            <a:off x="5943600" y="5650992"/>
            <a:ext cx="256032" cy="274320"/>
          </a:xfrm>
          <a:prstGeom prst="rightArrow">
            <a:avLst/>
          </a:prstGeom>
          <a:solidFill>
            <a:srgbClr val="5A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217920" y="5349240"/>
            <a:ext cx="2514600" cy="868680"/>
          </a:xfrm>
          <a:prstGeom prst="roundRect">
            <a:avLst>
              <a:gd name="adj" fmla="val 7000"/>
            </a:avLst>
          </a:prstGeom>
          <a:solidFill>
            <a:srgbClr val="FFC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5349240"/>
            <a:ext cx="2240280" cy="868680"/>
          </a:xfrm>
          <a:prstGeom prst="rect">
            <a:avLst/>
          </a:prstGeom>
          <a:noFill/>
        </p:spPr>
        <p:txBody>
          <a:bodyPr wrap="square" lIns="0" tIns="0" rIns="0" bIns="0" anchor="ctr">
            <a:spAutoFit/>
          </a:bodyPr>
          <a:lstStyle/>
          <a:p>
            <a:pPr algn="ctr"/>
            <a:r>
              <a:rPr sz="1600" b="1" i="0">
                <a:solidFill>
                  <a:srgbClr val="0B3A63"/>
                </a:solidFill>
                <a:latin typeface="Calibri"/>
              </a:rPr>
              <a:t>Explicarlo factor por factor</a:t>
            </a:r>
          </a:p>
        </p:txBody>
      </p:sp>
      <p:sp>
        <p:nvSpPr>
          <p:cNvPr id="28" name="Right Arrow 27"/>
          <p:cNvSpPr/>
          <p:nvPr/>
        </p:nvSpPr>
        <p:spPr>
          <a:xfrm>
            <a:off x="8778240" y="5650992"/>
            <a:ext cx="256032" cy="274320"/>
          </a:xfrm>
          <a:prstGeom prst="rightArrow">
            <a:avLst/>
          </a:prstGeom>
          <a:solidFill>
            <a:srgbClr val="5A6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052560" y="5349240"/>
            <a:ext cx="2514600" cy="868680"/>
          </a:xfrm>
          <a:prstGeom prst="roundRect">
            <a:avLst>
              <a:gd name="adj" fmla="val 7000"/>
            </a:avLst>
          </a:prstGeom>
          <a:solidFill>
            <a:srgbClr val="096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89720" y="5349240"/>
            <a:ext cx="2240280" cy="868680"/>
          </a:xfrm>
          <a:prstGeom prst="rect">
            <a:avLst/>
          </a:prstGeom>
          <a:noFill/>
        </p:spPr>
        <p:txBody>
          <a:bodyPr wrap="square" lIns="0" tIns="0" rIns="0" bIns="0" anchor="ctr">
            <a:spAutoFit/>
          </a:bodyPr>
          <a:lstStyle/>
          <a:p>
            <a:pPr algn="ctr"/>
            <a:r>
              <a:rPr sz="1600" b="1" i="0">
                <a:solidFill>
                  <a:srgbClr val="FFFFFF"/>
                </a:solidFill>
                <a:latin typeface="Calibri"/>
              </a:rPr>
              <a:t>Proponer cómo usarlo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418320" cy="1097280"/>
          </a:xfrm>
          <a:prstGeom prst="rect">
            <a:avLst/>
          </a:prstGeom>
          <a:noFill/>
        </p:spPr>
        <p:txBody>
          <a:bodyPr wrap="square" lIns="0" tIns="0" rIns="0" bIns="0" anchor="t">
            <a:spAutoFit/>
          </a:bodyPr>
          <a:lstStyle/>
          <a:p>
            <a:pPr algn="l"/>
            <a:r>
              <a:rPr sz="2900" b="1" i="0">
                <a:solidFill>
                  <a:srgbClr val="0B3A63"/>
                </a:solidFill>
                <a:latin typeface="Calibri"/>
              </a:rPr>
              <a:t>Partimos de 10.000 empresas y de 3 de cada 10 que ya se desafiliaron</a:t>
            </a:r>
          </a:p>
        </p:txBody>
      </p:sp>
      <p:pic>
        <p:nvPicPr>
          <p:cNvPr id="3" name="Picture 2" descr="logo.png"/>
          <p:cNvPicPr>
            <a:picLocks noChangeAspect="1"/>
          </p:cNvPicPr>
          <p:nvPr/>
        </p:nvPicPr>
        <p:blipFill>
          <a:blip r:embed="rId3"/>
          <a:stretch>
            <a:fillRect/>
          </a:stretch>
        </p:blipFill>
        <p:spPr>
          <a:xfrm>
            <a:off x="10104120" y="457200"/>
            <a:ext cx="1554480" cy="296740"/>
          </a:xfrm>
          <a:prstGeom prst="rect">
            <a:avLst/>
          </a:prstGeom>
        </p:spPr>
      </p:pic>
      <p:sp>
        <p:nvSpPr>
          <p:cNvPr id="4" name="TextBox 3"/>
          <p:cNvSpPr txBox="1"/>
          <p:nvPr/>
        </p:nvSpPr>
        <p:spPr>
          <a:xfrm>
            <a:off x="548640" y="6428232"/>
            <a:ext cx="7315200" cy="228600"/>
          </a:xfrm>
          <a:prstGeom prst="rect">
            <a:avLst/>
          </a:prstGeom>
          <a:noFill/>
        </p:spPr>
        <p:txBody>
          <a:bodyPr wrap="square" lIns="0" tIns="0" rIns="0" bIns="0" anchor="t">
            <a:spAutoFit/>
          </a:bodyPr>
          <a:lstStyle/>
          <a:p>
            <a:pPr algn="l"/>
            <a:r>
              <a:rPr sz="1000" b="0" i="0">
                <a:solidFill>
                  <a:srgbClr val="5A6878"/>
                </a:solidFill>
                <a:latin typeface="Calibri"/>
              </a:rPr>
              <a:t>Problema 2 · Riesgo de desafiliación de empresas afiliadas</a:t>
            </a:r>
          </a:p>
        </p:txBody>
      </p:sp>
      <p:sp>
        <p:nvSpPr>
          <p:cNvPr id="5" name="TextBox 4"/>
          <p:cNvSpPr txBox="1"/>
          <p:nvPr/>
        </p:nvSpPr>
        <p:spPr>
          <a:xfrm>
            <a:off x="11064240" y="6428232"/>
            <a:ext cx="594360" cy="228600"/>
          </a:xfrm>
          <a:prstGeom prst="rect">
            <a:avLst/>
          </a:prstGeom>
          <a:noFill/>
        </p:spPr>
        <p:txBody>
          <a:bodyPr wrap="square" lIns="0" tIns="0" rIns="0" bIns="0" anchor="t">
            <a:spAutoFit/>
          </a:bodyPr>
          <a:lstStyle/>
          <a:p>
            <a:pPr algn="r"/>
            <a:r>
              <a:rPr sz="1000" b="0" i="0">
                <a:solidFill>
                  <a:srgbClr val="5A6878"/>
                </a:solidFill>
                <a:latin typeface="Calibri"/>
              </a:rPr>
              <a:t>3</a:t>
            </a:r>
          </a:p>
        </p:txBody>
      </p:sp>
      <p:sp>
        <p:nvSpPr>
          <p:cNvPr id="6" name="Rounded Rectangle 5"/>
          <p:cNvSpPr/>
          <p:nvPr/>
        </p:nvSpPr>
        <p:spPr>
          <a:xfrm>
            <a:off x="548640" y="1783080"/>
            <a:ext cx="3657600" cy="132588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31520" y="1965960"/>
            <a:ext cx="347472" cy="347472"/>
          </a:xfrm>
          <a:prstGeom prst="ellipse">
            <a:avLst/>
          </a:prstGeom>
          <a:solidFill>
            <a:srgbClr val="0B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34440" y="1938528"/>
            <a:ext cx="2834640" cy="411480"/>
          </a:xfrm>
          <a:prstGeom prst="rect">
            <a:avLst/>
          </a:prstGeom>
          <a:noFill/>
        </p:spPr>
        <p:txBody>
          <a:bodyPr wrap="square" lIns="0" tIns="0" rIns="0" bIns="0" anchor="t">
            <a:spAutoFit/>
          </a:bodyPr>
          <a:lstStyle/>
          <a:p>
            <a:pPr algn="l"/>
            <a:r>
              <a:rPr sz="1800" b="1" i="0">
                <a:solidFill>
                  <a:srgbClr val="0B3A63"/>
                </a:solidFill>
                <a:latin typeface="Calibri"/>
              </a:rPr>
              <a:t>Tamaño y contexto</a:t>
            </a:r>
          </a:p>
        </p:txBody>
      </p:sp>
      <p:sp>
        <p:nvSpPr>
          <p:cNvPr id="9" name="TextBox 8"/>
          <p:cNvSpPr txBox="1"/>
          <p:nvPr/>
        </p:nvSpPr>
        <p:spPr>
          <a:xfrm>
            <a:off x="777240" y="2441448"/>
            <a:ext cx="3246120" cy="640080"/>
          </a:xfrm>
          <a:prstGeom prst="rect">
            <a:avLst/>
          </a:prstGeom>
          <a:noFill/>
        </p:spPr>
        <p:txBody>
          <a:bodyPr wrap="square" lIns="0" tIns="0" rIns="0" bIns="0" anchor="t">
            <a:spAutoFit/>
          </a:bodyPr>
          <a:lstStyle/>
          <a:p>
            <a:pPr algn="l"/>
            <a:r>
              <a:rPr sz="1350" b="0" i="0">
                <a:solidFill>
                  <a:srgbClr val="1F2D3D"/>
                </a:solidFill>
                <a:latin typeface="Calibri"/>
              </a:rPr>
              <a:t>número de trabajadores, antigüedad, salario, distancia y sector</a:t>
            </a:r>
          </a:p>
        </p:txBody>
      </p:sp>
      <p:sp>
        <p:nvSpPr>
          <p:cNvPr id="10" name="Rounded Rectangle 9"/>
          <p:cNvSpPr/>
          <p:nvPr/>
        </p:nvSpPr>
        <p:spPr>
          <a:xfrm>
            <a:off x="548640" y="3246120"/>
            <a:ext cx="3657600" cy="132588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31520" y="3429000"/>
            <a:ext cx="347472" cy="347472"/>
          </a:xfrm>
          <a:prstGeom prst="ellipse">
            <a:avLst/>
          </a:prstGeom>
          <a:solidFill>
            <a:srgbClr val="FFC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34440" y="3401568"/>
            <a:ext cx="2834640" cy="411480"/>
          </a:xfrm>
          <a:prstGeom prst="rect">
            <a:avLst/>
          </a:prstGeom>
          <a:noFill/>
        </p:spPr>
        <p:txBody>
          <a:bodyPr wrap="square" lIns="0" tIns="0" rIns="0" bIns="0" anchor="t">
            <a:spAutoFit/>
          </a:bodyPr>
          <a:lstStyle/>
          <a:p>
            <a:pPr algn="l"/>
            <a:r>
              <a:rPr sz="1800" b="1" i="0">
                <a:solidFill>
                  <a:srgbClr val="0B3A63"/>
                </a:solidFill>
                <a:latin typeface="Calibri"/>
              </a:rPr>
              <a:t>Dinámica de la empresa</a:t>
            </a:r>
          </a:p>
        </p:txBody>
      </p:sp>
      <p:sp>
        <p:nvSpPr>
          <p:cNvPr id="13" name="TextBox 12"/>
          <p:cNvSpPr txBox="1"/>
          <p:nvPr/>
        </p:nvSpPr>
        <p:spPr>
          <a:xfrm>
            <a:off x="777240" y="3904487"/>
            <a:ext cx="3246120" cy="640080"/>
          </a:xfrm>
          <a:prstGeom prst="rect">
            <a:avLst/>
          </a:prstGeom>
          <a:noFill/>
        </p:spPr>
        <p:txBody>
          <a:bodyPr wrap="square" lIns="0" tIns="0" rIns="0" bIns="0" anchor="t">
            <a:spAutoFit/>
          </a:bodyPr>
          <a:lstStyle/>
          <a:p>
            <a:pPr algn="l"/>
            <a:r>
              <a:rPr sz="1350" b="0" i="0">
                <a:solidFill>
                  <a:srgbClr val="1F2D3D"/>
                </a:solidFill>
                <a:latin typeface="Calibri"/>
              </a:rPr>
              <a:t>crecimiento del empleo y rotación del personal</a:t>
            </a:r>
          </a:p>
        </p:txBody>
      </p:sp>
      <p:sp>
        <p:nvSpPr>
          <p:cNvPr id="14" name="Rounded Rectangle 13"/>
          <p:cNvSpPr/>
          <p:nvPr/>
        </p:nvSpPr>
        <p:spPr>
          <a:xfrm>
            <a:off x="548640" y="4709160"/>
            <a:ext cx="3657600" cy="132588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31520" y="4892040"/>
            <a:ext cx="347472" cy="347472"/>
          </a:xfrm>
          <a:prstGeom prst="ellipse">
            <a:avLst/>
          </a:prstGeom>
          <a:solidFill>
            <a:srgbClr val="0968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34440" y="4864608"/>
            <a:ext cx="2834640" cy="411480"/>
          </a:xfrm>
          <a:prstGeom prst="rect">
            <a:avLst/>
          </a:prstGeom>
          <a:noFill/>
        </p:spPr>
        <p:txBody>
          <a:bodyPr wrap="square" lIns="0" tIns="0" rIns="0" bIns="0" anchor="t">
            <a:spAutoFit/>
          </a:bodyPr>
          <a:lstStyle/>
          <a:p>
            <a:pPr algn="l"/>
            <a:r>
              <a:rPr sz="1800" b="1" i="0">
                <a:solidFill>
                  <a:srgbClr val="0B3A63"/>
                </a:solidFill>
                <a:latin typeface="Calibri"/>
              </a:rPr>
              <a:t>Relación con Colsubsidio</a:t>
            </a:r>
          </a:p>
        </p:txBody>
      </p:sp>
      <p:sp>
        <p:nvSpPr>
          <p:cNvPr id="17" name="TextBox 16"/>
          <p:cNvSpPr txBox="1"/>
          <p:nvPr/>
        </p:nvSpPr>
        <p:spPr>
          <a:xfrm>
            <a:off x="777240" y="5367528"/>
            <a:ext cx="3246120" cy="640080"/>
          </a:xfrm>
          <a:prstGeom prst="rect">
            <a:avLst/>
          </a:prstGeom>
          <a:noFill/>
        </p:spPr>
        <p:txBody>
          <a:bodyPr wrap="square" lIns="0" tIns="0" rIns="0" bIns="0" anchor="t">
            <a:spAutoFit/>
          </a:bodyPr>
          <a:lstStyle/>
          <a:p>
            <a:pPr algn="l"/>
            <a:r>
              <a:rPr sz="1350" b="0" i="0">
                <a:solidFill>
                  <a:srgbClr val="1F2D3D"/>
                </a:solidFill>
                <a:latin typeface="Calibri"/>
              </a:rPr>
              <a:t>tiempo de afiliación, uso de servicios, satisfacción, formalización y digitalización</a:t>
            </a:r>
          </a:p>
        </p:txBody>
      </p:sp>
      <p:pic>
        <p:nvPicPr>
          <p:cNvPr id="18" name="Picture 17" descr="A_datos.png"/>
          <p:cNvPicPr>
            <a:picLocks noChangeAspect="1"/>
          </p:cNvPicPr>
          <p:nvPr/>
        </p:nvPicPr>
        <p:blipFill>
          <a:blip r:embed="rId4"/>
          <a:stretch>
            <a:fillRect/>
          </a:stretch>
        </p:blipFill>
        <p:spPr>
          <a:xfrm>
            <a:off x="4480560" y="1737360"/>
            <a:ext cx="7223760" cy="3472962"/>
          </a:xfrm>
          <a:prstGeom prst="rect">
            <a:avLst/>
          </a:prstGeom>
        </p:spPr>
      </p:pic>
      <p:sp>
        <p:nvSpPr>
          <p:cNvPr id="19" name="TextBox 18"/>
          <p:cNvSpPr txBox="1"/>
          <p:nvPr/>
        </p:nvSpPr>
        <p:spPr>
          <a:xfrm>
            <a:off x="4480560" y="5623560"/>
            <a:ext cx="7223760" cy="685800"/>
          </a:xfrm>
          <a:prstGeom prst="rect">
            <a:avLst/>
          </a:prstGeom>
          <a:noFill/>
        </p:spPr>
        <p:txBody>
          <a:bodyPr wrap="square" lIns="0" tIns="0" rIns="0" bIns="0" anchor="t">
            <a:spAutoFit/>
          </a:bodyPr>
          <a:lstStyle/>
          <a:p>
            <a:pPr algn="l"/>
            <a:r>
              <a:rPr sz="1250" b="0" i="1">
                <a:solidFill>
                  <a:srgbClr val="5A6878"/>
                </a:solidFill>
                <a:latin typeface="Calibri"/>
              </a:rPr>
              <a:t>Se desafilió el 30,3 % de las empresas. El riesgo sube con la rotación y baja con la satisfacción. Sin datos faltantes ni repetidos.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418320" cy="1097280"/>
          </a:xfrm>
          <a:prstGeom prst="rect">
            <a:avLst/>
          </a:prstGeom>
          <a:noFill/>
        </p:spPr>
        <p:txBody>
          <a:bodyPr wrap="square" lIns="0" tIns="0" rIns="0" bIns="0" anchor="t">
            <a:spAutoFit/>
          </a:bodyPr>
          <a:lstStyle/>
          <a:p>
            <a:pPr algn="l"/>
            <a:r>
              <a:rPr sz="2900" b="1" i="0">
                <a:solidFill>
                  <a:srgbClr val="0B3A63"/>
                </a:solidFill>
                <a:latin typeface="Calibri"/>
              </a:rPr>
              <a:t>Tres enfoques empatan en acierto; elegimos el más simple de explicar</a:t>
            </a:r>
          </a:p>
        </p:txBody>
      </p:sp>
      <p:pic>
        <p:nvPicPr>
          <p:cNvPr id="3" name="Picture 2" descr="logo.png"/>
          <p:cNvPicPr>
            <a:picLocks noChangeAspect="1"/>
          </p:cNvPicPr>
          <p:nvPr/>
        </p:nvPicPr>
        <p:blipFill>
          <a:blip r:embed="rId3"/>
          <a:stretch>
            <a:fillRect/>
          </a:stretch>
        </p:blipFill>
        <p:spPr>
          <a:xfrm>
            <a:off x="10104120" y="457200"/>
            <a:ext cx="1554480" cy="296740"/>
          </a:xfrm>
          <a:prstGeom prst="rect">
            <a:avLst/>
          </a:prstGeom>
        </p:spPr>
      </p:pic>
      <p:sp>
        <p:nvSpPr>
          <p:cNvPr id="4" name="TextBox 3"/>
          <p:cNvSpPr txBox="1"/>
          <p:nvPr/>
        </p:nvSpPr>
        <p:spPr>
          <a:xfrm>
            <a:off x="548640" y="6428232"/>
            <a:ext cx="7315200" cy="228600"/>
          </a:xfrm>
          <a:prstGeom prst="rect">
            <a:avLst/>
          </a:prstGeom>
          <a:noFill/>
        </p:spPr>
        <p:txBody>
          <a:bodyPr wrap="square" lIns="0" tIns="0" rIns="0" bIns="0" anchor="t">
            <a:spAutoFit/>
          </a:bodyPr>
          <a:lstStyle/>
          <a:p>
            <a:pPr algn="l"/>
            <a:r>
              <a:rPr sz="1000" b="0" i="0">
                <a:solidFill>
                  <a:srgbClr val="5A6878"/>
                </a:solidFill>
                <a:latin typeface="Calibri"/>
              </a:rPr>
              <a:t>Problema 2 · Riesgo de desafiliación de empresas afiliadas</a:t>
            </a:r>
          </a:p>
        </p:txBody>
      </p:sp>
      <p:sp>
        <p:nvSpPr>
          <p:cNvPr id="5" name="TextBox 4"/>
          <p:cNvSpPr txBox="1"/>
          <p:nvPr/>
        </p:nvSpPr>
        <p:spPr>
          <a:xfrm>
            <a:off x="11064240" y="6428232"/>
            <a:ext cx="594360" cy="228600"/>
          </a:xfrm>
          <a:prstGeom prst="rect">
            <a:avLst/>
          </a:prstGeom>
          <a:noFill/>
        </p:spPr>
        <p:txBody>
          <a:bodyPr wrap="square" lIns="0" tIns="0" rIns="0" bIns="0" anchor="t">
            <a:spAutoFit/>
          </a:bodyPr>
          <a:lstStyle/>
          <a:p>
            <a:pPr algn="r"/>
            <a:r>
              <a:rPr sz="1000" b="0" i="0">
                <a:solidFill>
                  <a:srgbClr val="5A6878"/>
                </a:solidFill>
                <a:latin typeface="Calibri"/>
              </a:rPr>
              <a:t>4</a:t>
            </a:r>
          </a:p>
        </p:txBody>
      </p:sp>
      <p:pic>
        <p:nvPicPr>
          <p:cNvPr id="6" name="Picture 5" descr="B_modelos.png"/>
          <p:cNvPicPr>
            <a:picLocks noChangeAspect="1"/>
          </p:cNvPicPr>
          <p:nvPr/>
        </p:nvPicPr>
        <p:blipFill>
          <a:blip r:embed="rId4"/>
          <a:stretch>
            <a:fillRect/>
          </a:stretch>
        </p:blipFill>
        <p:spPr>
          <a:xfrm>
            <a:off x="457200" y="1691640"/>
            <a:ext cx="6675120" cy="4149399"/>
          </a:xfrm>
          <a:prstGeom prst="rect">
            <a:avLst/>
          </a:prstGeom>
        </p:spPr>
      </p:pic>
      <p:sp>
        <p:nvSpPr>
          <p:cNvPr id="7" name="Rounded Rectangle 6"/>
          <p:cNvSpPr/>
          <p:nvPr/>
        </p:nvSpPr>
        <p:spPr>
          <a:xfrm>
            <a:off x="7498079" y="1691640"/>
            <a:ext cx="4160520" cy="141732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26679" y="1828800"/>
            <a:ext cx="3703320" cy="571500"/>
          </a:xfrm>
          <a:prstGeom prst="rect">
            <a:avLst/>
          </a:prstGeom>
          <a:noFill/>
        </p:spPr>
        <p:txBody>
          <a:bodyPr wrap="square" lIns="0" tIns="0" rIns="0" bIns="0" anchor="t">
            <a:spAutoFit/>
          </a:bodyPr>
          <a:lstStyle/>
          <a:p>
            <a:pPr algn="l"/>
            <a:r>
              <a:rPr sz="3600" b="1" i="0">
                <a:solidFill>
                  <a:srgbClr val="0968B1"/>
                </a:solidFill>
                <a:latin typeface="Calibri"/>
              </a:rPr>
              <a:t>Empate</a:t>
            </a:r>
          </a:p>
        </p:txBody>
      </p:sp>
      <p:sp>
        <p:nvSpPr>
          <p:cNvPr id="9" name="TextBox 8"/>
          <p:cNvSpPr txBox="1"/>
          <p:nvPr/>
        </p:nvSpPr>
        <p:spPr>
          <a:xfrm>
            <a:off x="7726679" y="2446020"/>
            <a:ext cx="3703320" cy="571500"/>
          </a:xfrm>
          <a:prstGeom prst="rect">
            <a:avLst/>
          </a:prstGeom>
          <a:noFill/>
        </p:spPr>
        <p:txBody>
          <a:bodyPr wrap="square" lIns="0" tIns="0" rIns="0" bIns="0" anchor="t">
            <a:spAutoFit/>
          </a:bodyPr>
          <a:lstStyle/>
          <a:p>
            <a:pPr algn="l"/>
            <a:r>
              <a:rPr sz="1300" b="0" i="0">
                <a:solidFill>
                  <a:srgbClr val="1F2D3D"/>
                </a:solidFill>
                <a:latin typeface="Calibri"/>
              </a:rPr>
              <a:t>entre tres enfoques en validación cruzada; gana el más simple y explicable</a:t>
            </a:r>
          </a:p>
        </p:txBody>
      </p:sp>
      <p:sp>
        <p:nvSpPr>
          <p:cNvPr id="10" name="Rounded Rectangle 9"/>
          <p:cNvSpPr/>
          <p:nvPr/>
        </p:nvSpPr>
        <p:spPr>
          <a:xfrm>
            <a:off x="7498079" y="3246120"/>
            <a:ext cx="4160520" cy="123444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26679" y="3383279"/>
            <a:ext cx="3703320" cy="539750"/>
          </a:xfrm>
          <a:prstGeom prst="rect">
            <a:avLst/>
          </a:prstGeom>
          <a:noFill/>
        </p:spPr>
        <p:txBody>
          <a:bodyPr wrap="square" lIns="0" tIns="0" rIns="0" bIns="0" anchor="t">
            <a:spAutoFit/>
          </a:bodyPr>
          <a:lstStyle/>
          <a:p>
            <a:pPr algn="l"/>
            <a:r>
              <a:rPr sz="3400" b="1" i="0">
                <a:solidFill>
                  <a:srgbClr val="0968B1"/>
                </a:solidFill>
                <a:latin typeface="Calibri"/>
              </a:rPr>
              <a:t>78,6 %</a:t>
            </a:r>
          </a:p>
        </p:txBody>
      </p:sp>
      <p:sp>
        <p:nvSpPr>
          <p:cNvPr id="12" name="TextBox 11"/>
          <p:cNvSpPr txBox="1"/>
          <p:nvPr/>
        </p:nvSpPr>
        <p:spPr>
          <a:xfrm>
            <a:off x="7726679" y="3968750"/>
            <a:ext cx="3703320" cy="420370"/>
          </a:xfrm>
          <a:prstGeom prst="rect">
            <a:avLst/>
          </a:prstGeom>
          <a:noFill/>
        </p:spPr>
        <p:txBody>
          <a:bodyPr wrap="square" lIns="0" tIns="0" rIns="0" bIns="0" anchor="t">
            <a:spAutoFit/>
          </a:bodyPr>
          <a:lstStyle/>
          <a:p>
            <a:pPr algn="l"/>
            <a:r>
              <a:rPr sz="1300" b="0" i="0">
                <a:solidFill>
                  <a:srgbClr val="1F2D3D"/>
                </a:solidFill>
                <a:latin typeface="Calibri"/>
              </a:rPr>
              <a:t>de acierto en 2.000 empresas que el modelo nunca vio</a:t>
            </a:r>
          </a:p>
        </p:txBody>
      </p:sp>
      <p:sp>
        <p:nvSpPr>
          <p:cNvPr id="13" name="Rounded Rectangle 12"/>
          <p:cNvSpPr/>
          <p:nvPr/>
        </p:nvSpPr>
        <p:spPr>
          <a:xfrm>
            <a:off x="7498079" y="4617720"/>
            <a:ext cx="4160520" cy="13716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26679" y="4754880"/>
            <a:ext cx="3703320" cy="539750"/>
          </a:xfrm>
          <a:prstGeom prst="rect">
            <a:avLst/>
          </a:prstGeom>
          <a:noFill/>
        </p:spPr>
        <p:txBody>
          <a:bodyPr wrap="square" lIns="0" tIns="0" rIns="0" bIns="0" anchor="t">
            <a:spAutoFit/>
          </a:bodyPr>
          <a:lstStyle/>
          <a:p>
            <a:pPr algn="l"/>
            <a:r>
              <a:rPr sz="3400" b="1" i="0">
                <a:solidFill>
                  <a:srgbClr val="0968B1"/>
                </a:solidFill>
                <a:latin typeface="Calibri"/>
              </a:rPr>
              <a:t>466 de 606</a:t>
            </a:r>
          </a:p>
        </p:txBody>
      </p:sp>
      <p:sp>
        <p:nvSpPr>
          <p:cNvPr id="15" name="TextBox 14"/>
          <p:cNvSpPr txBox="1"/>
          <p:nvPr/>
        </p:nvSpPr>
        <p:spPr>
          <a:xfrm>
            <a:off x="7726679" y="5340350"/>
            <a:ext cx="3703320" cy="557530"/>
          </a:xfrm>
          <a:prstGeom prst="rect">
            <a:avLst/>
          </a:prstGeom>
          <a:noFill/>
        </p:spPr>
        <p:txBody>
          <a:bodyPr wrap="square" lIns="0" tIns="0" rIns="0" bIns="0" anchor="t">
            <a:spAutoFit/>
          </a:bodyPr>
          <a:lstStyle/>
          <a:p>
            <a:pPr algn="l"/>
            <a:r>
              <a:rPr sz="1300" b="0" i="0">
                <a:solidFill>
                  <a:srgbClr val="1F2D3D"/>
                </a:solidFill>
                <a:latin typeface="Calibri"/>
              </a:rPr>
              <a:t>desafiliaciones reales detectadas (77 %) en esas 2.000 empresas</a:t>
            </a:r>
          </a:p>
        </p:txBody>
      </p:sp>
      <p:sp>
        <p:nvSpPr>
          <p:cNvPr id="16" name="TextBox 15"/>
          <p:cNvSpPr txBox="1"/>
          <p:nvPr/>
        </p:nvSpPr>
        <p:spPr>
          <a:xfrm>
            <a:off x="548640" y="6053328"/>
            <a:ext cx="11064240" cy="320040"/>
          </a:xfrm>
          <a:prstGeom prst="rect">
            <a:avLst/>
          </a:prstGeom>
          <a:noFill/>
        </p:spPr>
        <p:txBody>
          <a:bodyPr wrap="square" lIns="0" tIns="0" rIns="0" bIns="0" anchor="t">
            <a:spAutoFit/>
          </a:bodyPr>
          <a:lstStyle/>
          <a:p>
            <a:pPr algn="l"/>
            <a:r>
              <a:rPr sz="1100" b="0" i="1">
                <a:solidFill>
                  <a:srgbClr val="5A6878"/>
                </a:solidFill>
                <a:latin typeface="Calibri"/>
              </a:rPr>
              <a:t>Cifras del análisis, por validar. Medida de comparación: precisión para detectar abandonos (PR-AUC, validación cruzada 5×2).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418320" cy="1097280"/>
          </a:xfrm>
          <a:prstGeom prst="rect">
            <a:avLst/>
          </a:prstGeom>
          <a:noFill/>
        </p:spPr>
        <p:txBody>
          <a:bodyPr wrap="square" lIns="0" tIns="0" rIns="0" bIns="0" anchor="t">
            <a:spAutoFit/>
          </a:bodyPr>
          <a:lstStyle/>
          <a:p>
            <a:pPr algn="l"/>
            <a:r>
              <a:rPr sz="2900" b="1" i="0">
                <a:solidFill>
                  <a:srgbClr val="0B3A63"/>
                </a:solidFill>
                <a:latin typeface="Calibri"/>
              </a:rPr>
              <a:t>De 12 factores quedan 7: los que el modelo elige de forma estable</a:t>
            </a:r>
          </a:p>
        </p:txBody>
      </p:sp>
      <p:pic>
        <p:nvPicPr>
          <p:cNvPr id="3" name="Picture 2" descr="logo.png"/>
          <p:cNvPicPr>
            <a:picLocks noChangeAspect="1"/>
          </p:cNvPicPr>
          <p:nvPr/>
        </p:nvPicPr>
        <p:blipFill>
          <a:blip r:embed="rId3"/>
          <a:stretch>
            <a:fillRect/>
          </a:stretch>
        </p:blipFill>
        <p:spPr>
          <a:xfrm>
            <a:off x="10104120" y="457200"/>
            <a:ext cx="1554480" cy="296740"/>
          </a:xfrm>
          <a:prstGeom prst="rect">
            <a:avLst/>
          </a:prstGeom>
        </p:spPr>
      </p:pic>
      <p:sp>
        <p:nvSpPr>
          <p:cNvPr id="4" name="TextBox 3"/>
          <p:cNvSpPr txBox="1"/>
          <p:nvPr/>
        </p:nvSpPr>
        <p:spPr>
          <a:xfrm>
            <a:off x="548640" y="6428232"/>
            <a:ext cx="7315200" cy="228600"/>
          </a:xfrm>
          <a:prstGeom prst="rect">
            <a:avLst/>
          </a:prstGeom>
          <a:noFill/>
        </p:spPr>
        <p:txBody>
          <a:bodyPr wrap="square" lIns="0" tIns="0" rIns="0" bIns="0" anchor="t">
            <a:spAutoFit/>
          </a:bodyPr>
          <a:lstStyle/>
          <a:p>
            <a:pPr algn="l"/>
            <a:r>
              <a:rPr sz="1000" b="0" i="0">
                <a:solidFill>
                  <a:srgbClr val="5A6878"/>
                </a:solidFill>
                <a:latin typeface="Calibri"/>
              </a:rPr>
              <a:t>Problema 2 · Riesgo de desafiliación de empresas afiliadas</a:t>
            </a:r>
          </a:p>
        </p:txBody>
      </p:sp>
      <p:sp>
        <p:nvSpPr>
          <p:cNvPr id="5" name="TextBox 4"/>
          <p:cNvSpPr txBox="1"/>
          <p:nvPr/>
        </p:nvSpPr>
        <p:spPr>
          <a:xfrm>
            <a:off x="11064240" y="6428232"/>
            <a:ext cx="594360" cy="228600"/>
          </a:xfrm>
          <a:prstGeom prst="rect">
            <a:avLst/>
          </a:prstGeom>
          <a:noFill/>
        </p:spPr>
        <p:txBody>
          <a:bodyPr wrap="square" lIns="0" tIns="0" rIns="0" bIns="0" anchor="t">
            <a:spAutoFit/>
          </a:bodyPr>
          <a:lstStyle/>
          <a:p>
            <a:pPr algn="r"/>
            <a:r>
              <a:rPr sz="1000" b="0" i="0">
                <a:solidFill>
                  <a:srgbClr val="5A6878"/>
                </a:solidFill>
                <a:latin typeface="Calibri"/>
              </a:rPr>
              <a:t>5</a:t>
            </a:r>
          </a:p>
        </p:txBody>
      </p:sp>
      <p:pic>
        <p:nvPicPr>
          <p:cNvPr id="6" name="Picture 5" descr="C_variables.png"/>
          <p:cNvPicPr>
            <a:picLocks noChangeAspect="1"/>
          </p:cNvPicPr>
          <p:nvPr/>
        </p:nvPicPr>
        <p:blipFill>
          <a:blip r:embed="rId4"/>
          <a:stretch>
            <a:fillRect/>
          </a:stretch>
        </p:blipFill>
        <p:spPr>
          <a:xfrm>
            <a:off x="457200" y="1645920"/>
            <a:ext cx="6583680" cy="4359464"/>
          </a:xfrm>
          <a:prstGeom prst="rect">
            <a:avLst/>
          </a:prstGeom>
        </p:spPr>
      </p:pic>
      <p:sp>
        <p:nvSpPr>
          <p:cNvPr id="7" name="Rounded Rectangle 6"/>
          <p:cNvSpPr/>
          <p:nvPr/>
        </p:nvSpPr>
        <p:spPr>
          <a:xfrm>
            <a:off x="7406640" y="1737360"/>
            <a:ext cx="4251960" cy="123444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589520" y="2011679"/>
            <a:ext cx="685800" cy="685800"/>
          </a:xfrm>
          <a:prstGeom prst="ellipse">
            <a:avLst/>
          </a:prstGeom>
          <a:solidFill>
            <a:srgbClr val="0B3A6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4</a:t>
            </a:r>
          </a:p>
        </p:txBody>
      </p:sp>
      <p:sp>
        <p:nvSpPr>
          <p:cNvPr id="9" name="TextBox 8"/>
          <p:cNvSpPr txBox="1"/>
          <p:nvPr/>
        </p:nvSpPr>
        <p:spPr>
          <a:xfrm>
            <a:off x="8458200" y="1874519"/>
            <a:ext cx="3063240" cy="457200"/>
          </a:xfrm>
          <a:prstGeom prst="rect">
            <a:avLst/>
          </a:prstGeom>
          <a:noFill/>
        </p:spPr>
        <p:txBody>
          <a:bodyPr wrap="square" lIns="0" tIns="0" rIns="0" bIns="0" anchor="t">
            <a:spAutoFit/>
          </a:bodyPr>
          <a:lstStyle/>
          <a:p>
            <a:pPr algn="l"/>
            <a:r>
              <a:rPr sz="1600" b="1" i="0">
                <a:solidFill>
                  <a:srgbClr val="0B3A63"/>
                </a:solidFill>
                <a:latin typeface="Calibri"/>
              </a:rPr>
              <a:t>Siempre elegidos (5 de 5)</a:t>
            </a:r>
          </a:p>
        </p:txBody>
      </p:sp>
      <p:sp>
        <p:nvSpPr>
          <p:cNvPr id="10" name="TextBox 9"/>
          <p:cNvSpPr txBox="1"/>
          <p:nvPr/>
        </p:nvSpPr>
        <p:spPr>
          <a:xfrm>
            <a:off x="8458200" y="2331720"/>
            <a:ext cx="3063240" cy="594360"/>
          </a:xfrm>
          <a:prstGeom prst="rect">
            <a:avLst/>
          </a:prstGeom>
          <a:noFill/>
        </p:spPr>
        <p:txBody>
          <a:bodyPr wrap="square" lIns="0" tIns="0" rIns="0" bIns="0" anchor="t">
            <a:spAutoFit/>
          </a:bodyPr>
          <a:lstStyle/>
          <a:p>
            <a:pPr algn="l"/>
            <a:r>
              <a:rPr sz="1250" b="0" i="0">
                <a:solidFill>
                  <a:srgbClr val="5A6878"/>
                </a:solidFill>
                <a:latin typeface="Calibri"/>
              </a:rPr>
              <a:t>crecimiento del empleo, rotación, satisfacción y uso de servicios</a:t>
            </a:r>
          </a:p>
        </p:txBody>
      </p:sp>
      <p:sp>
        <p:nvSpPr>
          <p:cNvPr id="11" name="Rounded Rectangle 10"/>
          <p:cNvSpPr/>
          <p:nvPr/>
        </p:nvSpPr>
        <p:spPr>
          <a:xfrm>
            <a:off x="7406640" y="3108960"/>
            <a:ext cx="4251960" cy="123444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589520" y="3383279"/>
            <a:ext cx="685800" cy="685800"/>
          </a:xfrm>
          <a:prstGeom prst="ellipse">
            <a:avLst/>
          </a:prstGeom>
          <a:solidFill>
            <a:srgbClr val="0968B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FFFF"/>
                </a:solidFill>
                <a:latin typeface="Calibri"/>
              </a:rPr>
              <a:t>3</a:t>
            </a:r>
          </a:p>
        </p:txBody>
      </p:sp>
      <p:sp>
        <p:nvSpPr>
          <p:cNvPr id="13" name="TextBox 12"/>
          <p:cNvSpPr txBox="1"/>
          <p:nvPr/>
        </p:nvSpPr>
        <p:spPr>
          <a:xfrm>
            <a:off x="8458200" y="3246120"/>
            <a:ext cx="3063240" cy="457200"/>
          </a:xfrm>
          <a:prstGeom prst="rect">
            <a:avLst/>
          </a:prstGeom>
          <a:noFill/>
        </p:spPr>
        <p:txBody>
          <a:bodyPr wrap="square" lIns="0" tIns="0" rIns="0" bIns="0" anchor="t">
            <a:spAutoFit/>
          </a:bodyPr>
          <a:lstStyle/>
          <a:p>
            <a:pPr algn="l"/>
            <a:r>
              <a:rPr sz="1600" b="1" i="0">
                <a:solidFill>
                  <a:srgbClr val="0B3A63"/>
                </a:solidFill>
                <a:latin typeface="Calibri"/>
              </a:rPr>
              <a:t>Elegidos 3 o 4 de 5 veces</a:t>
            </a:r>
          </a:p>
        </p:txBody>
      </p:sp>
      <p:sp>
        <p:nvSpPr>
          <p:cNvPr id="14" name="TextBox 13"/>
          <p:cNvSpPr txBox="1"/>
          <p:nvPr/>
        </p:nvSpPr>
        <p:spPr>
          <a:xfrm>
            <a:off x="8458200" y="3703320"/>
            <a:ext cx="3063240" cy="594360"/>
          </a:xfrm>
          <a:prstGeom prst="rect">
            <a:avLst/>
          </a:prstGeom>
          <a:noFill/>
        </p:spPr>
        <p:txBody>
          <a:bodyPr wrap="square" lIns="0" tIns="0" rIns="0" bIns="0" anchor="t">
            <a:spAutoFit/>
          </a:bodyPr>
          <a:lstStyle/>
          <a:p>
            <a:pPr algn="l"/>
            <a:r>
              <a:rPr sz="1250" b="0" i="0">
                <a:solidFill>
                  <a:srgbClr val="5A6878"/>
                </a:solidFill>
                <a:latin typeface="Calibri"/>
              </a:rPr>
              <a:t>antigüedad, número de trabajadores y digitalización</a:t>
            </a:r>
          </a:p>
        </p:txBody>
      </p:sp>
      <p:sp>
        <p:nvSpPr>
          <p:cNvPr id="15" name="Rounded Rectangle 14"/>
          <p:cNvSpPr/>
          <p:nvPr/>
        </p:nvSpPr>
        <p:spPr>
          <a:xfrm>
            <a:off x="7406640" y="4480560"/>
            <a:ext cx="4251960" cy="123444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589520" y="4754880"/>
            <a:ext cx="685800" cy="685800"/>
          </a:xfrm>
          <a:prstGeom prst="ellipse">
            <a:avLst/>
          </a:prstGeom>
          <a:solidFill>
            <a:srgbClr val="FFC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0B3A63"/>
                </a:solidFill>
                <a:latin typeface="Calibri"/>
              </a:rPr>
              <a:t>5</a:t>
            </a:r>
          </a:p>
        </p:txBody>
      </p:sp>
      <p:sp>
        <p:nvSpPr>
          <p:cNvPr id="17" name="TextBox 16"/>
          <p:cNvSpPr txBox="1"/>
          <p:nvPr/>
        </p:nvSpPr>
        <p:spPr>
          <a:xfrm>
            <a:off x="8458200" y="4617720"/>
            <a:ext cx="3063240" cy="457200"/>
          </a:xfrm>
          <a:prstGeom prst="rect">
            <a:avLst/>
          </a:prstGeom>
          <a:noFill/>
        </p:spPr>
        <p:txBody>
          <a:bodyPr wrap="square" lIns="0" tIns="0" rIns="0" bIns="0" anchor="t">
            <a:spAutoFit/>
          </a:bodyPr>
          <a:lstStyle/>
          <a:p>
            <a:pPr algn="l"/>
            <a:r>
              <a:rPr sz="1600" b="1" i="0">
                <a:solidFill>
                  <a:srgbClr val="0B3A63"/>
                </a:solidFill>
                <a:latin typeface="Calibri"/>
              </a:rPr>
              <a:t>Descartados</a:t>
            </a:r>
          </a:p>
        </p:txBody>
      </p:sp>
      <p:sp>
        <p:nvSpPr>
          <p:cNvPr id="18" name="TextBox 17"/>
          <p:cNvSpPr txBox="1"/>
          <p:nvPr/>
        </p:nvSpPr>
        <p:spPr>
          <a:xfrm>
            <a:off x="8458200" y="5074920"/>
            <a:ext cx="3063240" cy="594360"/>
          </a:xfrm>
          <a:prstGeom prst="rect">
            <a:avLst/>
          </a:prstGeom>
          <a:noFill/>
        </p:spPr>
        <p:txBody>
          <a:bodyPr wrap="square" lIns="0" tIns="0" rIns="0" bIns="0" anchor="t">
            <a:spAutoFit/>
          </a:bodyPr>
          <a:lstStyle/>
          <a:p>
            <a:pPr algn="l"/>
            <a:r>
              <a:rPr sz="1250" b="0" i="0">
                <a:solidFill>
                  <a:srgbClr val="5A6878"/>
                </a:solidFill>
                <a:latin typeface="Calibri"/>
              </a:rPr>
              <a:t>formalización, tiempo de afiliación, salario, distancia y sector</a:t>
            </a:r>
          </a:p>
        </p:txBody>
      </p:sp>
      <p:sp>
        <p:nvSpPr>
          <p:cNvPr id="19" name="TextBox 18"/>
          <p:cNvSpPr txBox="1"/>
          <p:nvPr/>
        </p:nvSpPr>
        <p:spPr>
          <a:xfrm>
            <a:off x="7406640" y="5897880"/>
            <a:ext cx="4251960" cy="548640"/>
          </a:xfrm>
          <a:prstGeom prst="rect">
            <a:avLst/>
          </a:prstGeom>
          <a:noFill/>
        </p:spPr>
        <p:txBody>
          <a:bodyPr wrap="square" lIns="0" tIns="0" rIns="0" bIns="0" anchor="t">
            <a:spAutoFit/>
          </a:bodyPr>
          <a:lstStyle/>
          <a:p>
            <a:pPr algn="l"/>
            <a:r>
              <a:rPr sz="1100" b="0" i="1">
                <a:solidFill>
                  <a:srgbClr val="5A6878"/>
                </a:solidFill>
                <a:latin typeface="Calibri"/>
              </a:rPr>
              <a:t>Cifras del análisis, por validar. Precisión en el examen final (PR-AUC): 0,752 con los 16 campos y 0,739 con los 7 factores.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418320" cy="1097280"/>
          </a:xfrm>
          <a:prstGeom prst="rect">
            <a:avLst/>
          </a:prstGeom>
          <a:noFill/>
        </p:spPr>
        <p:txBody>
          <a:bodyPr wrap="square" lIns="0" tIns="0" rIns="0" bIns="0" anchor="t">
            <a:spAutoFit/>
          </a:bodyPr>
          <a:lstStyle/>
          <a:p>
            <a:pPr algn="l"/>
            <a:r>
              <a:rPr sz="2900" b="1" i="0">
                <a:solidFill>
                  <a:srgbClr val="0B3A63"/>
                </a:solidFill>
                <a:latin typeface="Calibri"/>
              </a:rPr>
              <a:t>La rotación de personal es lo que más sube el riesgo; la satisfacción y el crecimiento, lo que más lo bajan</a:t>
            </a:r>
          </a:p>
        </p:txBody>
      </p:sp>
      <p:pic>
        <p:nvPicPr>
          <p:cNvPr id="3" name="Picture 2" descr="logo.png"/>
          <p:cNvPicPr>
            <a:picLocks noChangeAspect="1"/>
          </p:cNvPicPr>
          <p:nvPr/>
        </p:nvPicPr>
        <p:blipFill>
          <a:blip r:embed="rId3"/>
          <a:stretch>
            <a:fillRect/>
          </a:stretch>
        </p:blipFill>
        <p:spPr>
          <a:xfrm>
            <a:off x="10104120" y="457200"/>
            <a:ext cx="1554480" cy="296740"/>
          </a:xfrm>
          <a:prstGeom prst="rect">
            <a:avLst/>
          </a:prstGeom>
        </p:spPr>
      </p:pic>
      <p:sp>
        <p:nvSpPr>
          <p:cNvPr id="4" name="TextBox 3"/>
          <p:cNvSpPr txBox="1"/>
          <p:nvPr/>
        </p:nvSpPr>
        <p:spPr>
          <a:xfrm>
            <a:off x="548640" y="6428232"/>
            <a:ext cx="7315200" cy="228600"/>
          </a:xfrm>
          <a:prstGeom prst="rect">
            <a:avLst/>
          </a:prstGeom>
          <a:noFill/>
        </p:spPr>
        <p:txBody>
          <a:bodyPr wrap="square" lIns="0" tIns="0" rIns="0" bIns="0" anchor="t">
            <a:spAutoFit/>
          </a:bodyPr>
          <a:lstStyle/>
          <a:p>
            <a:pPr algn="l"/>
            <a:r>
              <a:rPr sz="1000" b="0" i="0">
                <a:solidFill>
                  <a:srgbClr val="5A6878"/>
                </a:solidFill>
                <a:latin typeface="Calibri"/>
              </a:rPr>
              <a:t>Problema 2 · Riesgo de desafiliación de empresas afiliadas</a:t>
            </a:r>
          </a:p>
        </p:txBody>
      </p:sp>
      <p:sp>
        <p:nvSpPr>
          <p:cNvPr id="5" name="TextBox 4"/>
          <p:cNvSpPr txBox="1"/>
          <p:nvPr/>
        </p:nvSpPr>
        <p:spPr>
          <a:xfrm>
            <a:off x="11064240" y="6428232"/>
            <a:ext cx="594360" cy="228600"/>
          </a:xfrm>
          <a:prstGeom prst="rect">
            <a:avLst/>
          </a:prstGeom>
          <a:noFill/>
        </p:spPr>
        <p:txBody>
          <a:bodyPr wrap="square" lIns="0" tIns="0" rIns="0" bIns="0" anchor="t">
            <a:spAutoFit/>
          </a:bodyPr>
          <a:lstStyle/>
          <a:p>
            <a:pPr algn="r"/>
            <a:r>
              <a:rPr sz="1000" b="0" i="0">
                <a:solidFill>
                  <a:srgbClr val="5A6878"/>
                </a:solidFill>
                <a:latin typeface="Calibri"/>
              </a:rPr>
              <a:t>6</a:t>
            </a:r>
          </a:p>
        </p:txBody>
      </p:sp>
      <p:pic>
        <p:nvPicPr>
          <p:cNvPr id="6" name="Picture 5" descr="D_odds.png"/>
          <p:cNvPicPr>
            <a:picLocks noChangeAspect="1"/>
          </p:cNvPicPr>
          <p:nvPr/>
        </p:nvPicPr>
        <p:blipFill>
          <a:blip r:embed="rId4"/>
          <a:stretch>
            <a:fillRect/>
          </a:stretch>
        </p:blipFill>
        <p:spPr>
          <a:xfrm>
            <a:off x="457200" y="1783080"/>
            <a:ext cx="6675120" cy="4070195"/>
          </a:xfrm>
          <a:prstGeom prst="rect">
            <a:avLst/>
          </a:prstGeom>
        </p:spPr>
      </p:pic>
      <p:sp>
        <p:nvSpPr>
          <p:cNvPr id="7" name="Rounded Rectangle 6"/>
          <p:cNvSpPr/>
          <p:nvPr/>
        </p:nvSpPr>
        <p:spPr>
          <a:xfrm>
            <a:off x="7406640" y="1783080"/>
            <a:ext cx="4251960" cy="3977639"/>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938528"/>
            <a:ext cx="3749039" cy="365760"/>
          </a:xfrm>
          <a:prstGeom prst="rect">
            <a:avLst/>
          </a:prstGeom>
          <a:noFill/>
        </p:spPr>
        <p:txBody>
          <a:bodyPr wrap="square" lIns="0" tIns="0" rIns="0" bIns="0" anchor="t">
            <a:spAutoFit/>
          </a:bodyPr>
          <a:lstStyle/>
          <a:p>
            <a:pPr algn="l"/>
            <a:r>
              <a:rPr sz="1800" b="1" i="0">
                <a:solidFill>
                  <a:srgbClr val="0B3A63"/>
                </a:solidFill>
                <a:latin typeface="Calibri"/>
              </a:rPr>
              <a:t>Cómo leer el gráfico</a:t>
            </a:r>
          </a:p>
        </p:txBody>
      </p:sp>
      <p:sp>
        <p:nvSpPr>
          <p:cNvPr id="9" name="TextBox 8"/>
          <p:cNvSpPr txBox="1"/>
          <p:nvPr/>
        </p:nvSpPr>
        <p:spPr>
          <a:xfrm>
            <a:off x="7680960" y="2395728"/>
            <a:ext cx="3749039" cy="3383280"/>
          </a:xfrm>
          <a:prstGeom prst="rect">
            <a:avLst/>
          </a:prstGeom>
          <a:noFill/>
        </p:spPr>
        <p:txBody>
          <a:bodyPr wrap="square" lIns="0" tIns="0" rIns="0" bIns="0" anchor="t">
            <a:spAutoFit/>
          </a:bodyPr>
          <a:lstStyle/>
          <a:p>
            <a:pPr marL="228600" indent="-228600" algn="l">
              <a:buFont typeface="Arial"/>
              <a:buChar char="•"/>
            </a:pPr>
            <a:r>
              <a:rPr sz="1400" b="0" i="0">
                <a:solidFill>
                  <a:srgbClr val="1F2D3D"/>
                </a:solidFill>
                <a:latin typeface="Calibri"/>
              </a:rPr>
              <a:t>Cada barra es el cambio en el riesgo cuando el factor sube un paso típico: 9 puntos de rotación, 14 puntos de satisfacción, 2 servicios, 8 años de antigüedad.</a:t>
            </a:r>
          </a:p>
          <a:p>
            <a:pPr marL="228600" indent="-228600" algn="l">
              <a:spcBef>
                <a:spcPts val="800"/>
              </a:spcBef>
              <a:buFont typeface="Arial"/>
              <a:buChar char="•"/>
            </a:pPr>
            <a:r>
              <a:rPr sz="1400" b="0" i="0">
                <a:solidFill>
                  <a:srgbClr val="1F2D3D"/>
                </a:solidFill>
                <a:latin typeface="Calibri"/>
              </a:rPr>
              <a:t>Una empresa con 9 puntos más de rotación tiene más del doble de probabilidades relativas de desafiliarse.</a:t>
            </a:r>
          </a:p>
          <a:p>
            <a:pPr marL="228600" indent="-228600" algn="l">
              <a:spcBef>
                <a:spcPts val="800"/>
              </a:spcBef>
              <a:buFont typeface="Arial"/>
              <a:buChar char="•"/>
            </a:pPr>
            <a:r>
              <a:rPr sz="1400" b="0" i="0">
                <a:solidFill>
                  <a:srgbClr val="1F2D3D"/>
                </a:solidFill>
                <a:latin typeface="Calibri"/>
              </a:rPr>
              <a:t>Las líneas negras muestran el rango del 95 % de confianza: ninguna cruza el cero.</a:t>
            </a:r>
          </a:p>
          <a:p>
            <a:pPr algn="l">
              <a:spcBef>
                <a:spcPts val="800"/>
              </a:spcBef>
            </a:pPr>
            <a:r>
              <a:rPr sz="1400" b="1" i="0">
                <a:solidFill>
                  <a:srgbClr val="0968B1"/>
                </a:solidFill>
                <a:latin typeface="Calibri"/>
              </a:rPr>
              <a:t>Son asociaciones del modelo: sirven para priorizar dónde actuar.</a:t>
            </a:r>
          </a:p>
        </p:txBody>
      </p:sp>
      <p:sp>
        <p:nvSpPr>
          <p:cNvPr id="10" name="TextBox 9"/>
          <p:cNvSpPr txBox="1"/>
          <p:nvPr/>
        </p:nvSpPr>
        <p:spPr>
          <a:xfrm>
            <a:off x="548640" y="5989320"/>
            <a:ext cx="11064240" cy="365760"/>
          </a:xfrm>
          <a:prstGeom prst="rect">
            <a:avLst/>
          </a:prstGeom>
          <a:noFill/>
        </p:spPr>
        <p:txBody>
          <a:bodyPr wrap="square" lIns="0" tIns="0" rIns="0" bIns="0" anchor="t">
            <a:spAutoFit/>
          </a:bodyPr>
          <a:lstStyle/>
          <a:p>
            <a:pPr algn="l"/>
            <a:r>
              <a:rPr sz="1100" b="0" i="1">
                <a:solidFill>
                  <a:srgbClr val="5A6878"/>
                </a:solidFill>
                <a:latin typeface="Calibri"/>
              </a:rPr>
              <a:t>Cifras del análisis, por validar. Modelo de 7 factores; cada efecto se mide con los demás factores iguales, por +1 desviación estándar.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418320" cy="1097280"/>
          </a:xfrm>
          <a:prstGeom prst="rect">
            <a:avLst/>
          </a:prstGeom>
          <a:noFill/>
        </p:spPr>
        <p:txBody>
          <a:bodyPr wrap="square" lIns="0" tIns="0" rIns="0" bIns="0" anchor="t">
            <a:spAutoFit/>
          </a:bodyPr>
          <a:lstStyle/>
          <a:p>
            <a:pPr algn="l"/>
            <a:r>
              <a:rPr sz="2900" b="1" i="0">
                <a:solidFill>
                  <a:srgbClr val="0B3A63"/>
                </a:solidFill>
                <a:latin typeface="Calibri"/>
              </a:rPr>
              <a:t>En 2.000 empresas nuevas, el modelo detecta 3 de cada 4 desafiliaciones</a:t>
            </a:r>
          </a:p>
        </p:txBody>
      </p:sp>
      <p:pic>
        <p:nvPicPr>
          <p:cNvPr id="3" name="Picture 2" descr="logo.png"/>
          <p:cNvPicPr>
            <a:picLocks noChangeAspect="1"/>
          </p:cNvPicPr>
          <p:nvPr/>
        </p:nvPicPr>
        <p:blipFill>
          <a:blip r:embed="rId3"/>
          <a:stretch>
            <a:fillRect/>
          </a:stretch>
        </p:blipFill>
        <p:spPr>
          <a:xfrm>
            <a:off x="10104120" y="457200"/>
            <a:ext cx="1554480" cy="296740"/>
          </a:xfrm>
          <a:prstGeom prst="rect">
            <a:avLst/>
          </a:prstGeom>
        </p:spPr>
      </p:pic>
      <p:sp>
        <p:nvSpPr>
          <p:cNvPr id="4" name="TextBox 3"/>
          <p:cNvSpPr txBox="1"/>
          <p:nvPr/>
        </p:nvSpPr>
        <p:spPr>
          <a:xfrm>
            <a:off x="548640" y="6428232"/>
            <a:ext cx="7315200" cy="228600"/>
          </a:xfrm>
          <a:prstGeom prst="rect">
            <a:avLst/>
          </a:prstGeom>
          <a:noFill/>
        </p:spPr>
        <p:txBody>
          <a:bodyPr wrap="square" lIns="0" tIns="0" rIns="0" bIns="0" anchor="t">
            <a:spAutoFit/>
          </a:bodyPr>
          <a:lstStyle/>
          <a:p>
            <a:pPr algn="l"/>
            <a:r>
              <a:rPr sz="1000" b="0" i="0">
                <a:solidFill>
                  <a:srgbClr val="5A6878"/>
                </a:solidFill>
                <a:latin typeface="Calibri"/>
              </a:rPr>
              <a:t>Problema 2 · Riesgo de desafiliación de empresas afiliadas</a:t>
            </a:r>
          </a:p>
        </p:txBody>
      </p:sp>
      <p:sp>
        <p:nvSpPr>
          <p:cNvPr id="5" name="TextBox 4"/>
          <p:cNvSpPr txBox="1"/>
          <p:nvPr/>
        </p:nvSpPr>
        <p:spPr>
          <a:xfrm>
            <a:off x="11064240" y="6428232"/>
            <a:ext cx="594360" cy="228600"/>
          </a:xfrm>
          <a:prstGeom prst="rect">
            <a:avLst/>
          </a:prstGeom>
          <a:noFill/>
        </p:spPr>
        <p:txBody>
          <a:bodyPr wrap="square" lIns="0" tIns="0" rIns="0" bIns="0" anchor="t">
            <a:spAutoFit/>
          </a:bodyPr>
          <a:lstStyle/>
          <a:p>
            <a:pPr algn="r"/>
            <a:r>
              <a:rPr sz="1000" b="0" i="0">
                <a:solidFill>
                  <a:srgbClr val="5A6878"/>
                </a:solidFill>
                <a:latin typeface="Calibri"/>
              </a:rPr>
              <a:t>7</a:t>
            </a:r>
          </a:p>
        </p:txBody>
      </p:sp>
      <p:pic>
        <p:nvPicPr>
          <p:cNvPr id="6" name="Picture 5" descr="E_confusion.png"/>
          <p:cNvPicPr>
            <a:picLocks noChangeAspect="1"/>
          </p:cNvPicPr>
          <p:nvPr/>
        </p:nvPicPr>
        <p:blipFill>
          <a:blip r:embed="rId4"/>
          <a:stretch>
            <a:fillRect/>
          </a:stretch>
        </p:blipFill>
        <p:spPr>
          <a:xfrm>
            <a:off x="411480" y="1737360"/>
            <a:ext cx="7223760" cy="3134839"/>
          </a:xfrm>
          <a:prstGeom prst="rect">
            <a:avLst/>
          </a:prstGeom>
        </p:spPr>
      </p:pic>
      <p:sp>
        <p:nvSpPr>
          <p:cNvPr id="7" name="Rounded Rectangle 6"/>
          <p:cNvSpPr/>
          <p:nvPr/>
        </p:nvSpPr>
        <p:spPr>
          <a:xfrm>
            <a:off x="7955279" y="1737360"/>
            <a:ext cx="3703320" cy="132588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83879" y="1874519"/>
            <a:ext cx="3246120" cy="539750"/>
          </a:xfrm>
          <a:prstGeom prst="rect">
            <a:avLst/>
          </a:prstGeom>
          <a:noFill/>
        </p:spPr>
        <p:txBody>
          <a:bodyPr wrap="square" lIns="0" tIns="0" rIns="0" bIns="0" anchor="t">
            <a:spAutoFit/>
          </a:bodyPr>
          <a:lstStyle/>
          <a:p>
            <a:pPr algn="l"/>
            <a:r>
              <a:rPr sz="3400" b="1" i="0">
                <a:solidFill>
                  <a:srgbClr val="0968B1"/>
                </a:solidFill>
                <a:latin typeface="Calibri"/>
              </a:rPr>
              <a:t>77 %</a:t>
            </a:r>
          </a:p>
        </p:txBody>
      </p:sp>
      <p:sp>
        <p:nvSpPr>
          <p:cNvPr id="9" name="TextBox 8"/>
          <p:cNvSpPr txBox="1"/>
          <p:nvPr/>
        </p:nvSpPr>
        <p:spPr>
          <a:xfrm>
            <a:off x="8183879" y="2459990"/>
            <a:ext cx="3246120" cy="511809"/>
          </a:xfrm>
          <a:prstGeom prst="rect">
            <a:avLst/>
          </a:prstGeom>
          <a:noFill/>
        </p:spPr>
        <p:txBody>
          <a:bodyPr wrap="square" lIns="0" tIns="0" rIns="0" bIns="0" anchor="t">
            <a:spAutoFit/>
          </a:bodyPr>
          <a:lstStyle/>
          <a:p>
            <a:pPr algn="l"/>
            <a:r>
              <a:rPr sz="1250" b="0" i="0">
                <a:solidFill>
                  <a:srgbClr val="1F2D3D"/>
                </a:solidFill>
                <a:latin typeface="Calibri"/>
              </a:rPr>
              <a:t>de las desafiliaciones detectadas con el umbral estándar (466 de 606)</a:t>
            </a:r>
          </a:p>
        </p:txBody>
      </p:sp>
      <p:sp>
        <p:nvSpPr>
          <p:cNvPr id="10" name="Rounded Rectangle 9"/>
          <p:cNvSpPr/>
          <p:nvPr/>
        </p:nvSpPr>
        <p:spPr>
          <a:xfrm>
            <a:off x="7955279" y="3200400"/>
            <a:ext cx="3703320" cy="132588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83879" y="3337560"/>
            <a:ext cx="3246120" cy="539750"/>
          </a:xfrm>
          <a:prstGeom prst="rect">
            <a:avLst/>
          </a:prstGeom>
          <a:noFill/>
        </p:spPr>
        <p:txBody>
          <a:bodyPr wrap="square" lIns="0" tIns="0" rIns="0" bIns="0" anchor="t">
            <a:spAutoFit/>
          </a:bodyPr>
          <a:lstStyle/>
          <a:p>
            <a:pPr algn="l"/>
            <a:r>
              <a:rPr sz="3400" b="1" i="0">
                <a:solidFill>
                  <a:srgbClr val="0968B1"/>
                </a:solidFill>
                <a:latin typeface="Calibri"/>
              </a:rPr>
              <a:t>288</a:t>
            </a:r>
          </a:p>
        </p:txBody>
      </p:sp>
      <p:sp>
        <p:nvSpPr>
          <p:cNvPr id="12" name="TextBox 11"/>
          <p:cNvSpPr txBox="1"/>
          <p:nvPr/>
        </p:nvSpPr>
        <p:spPr>
          <a:xfrm>
            <a:off x="8183879" y="3923030"/>
            <a:ext cx="3246120" cy="511809"/>
          </a:xfrm>
          <a:prstGeom prst="rect">
            <a:avLst/>
          </a:prstGeom>
          <a:noFill/>
        </p:spPr>
        <p:txBody>
          <a:bodyPr wrap="square" lIns="0" tIns="0" rIns="0" bIns="0" anchor="t">
            <a:spAutoFit/>
          </a:bodyPr>
          <a:lstStyle/>
          <a:p>
            <a:pPr algn="l"/>
            <a:r>
              <a:rPr sz="1250" b="0" i="0">
                <a:solidFill>
                  <a:srgbClr val="1F2D3D"/>
                </a:solidFill>
                <a:latin typeface="Calibri"/>
              </a:rPr>
              <a:t>falsas alarmas: empresas señaladas que se quedan; la precisión es 62 %</a:t>
            </a:r>
          </a:p>
        </p:txBody>
      </p:sp>
      <p:sp>
        <p:nvSpPr>
          <p:cNvPr id="13" name="Rounded Rectangle 12"/>
          <p:cNvSpPr/>
          <p:nvPr/>
        </p:nvSpPr>
        <p:spPr>
          <a:xfrm>
            <a:off x="7955279" y="4663440"/>
            <a:ext cx="3703320" cy="13716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79" y="4800600"/>
            <a:ext cx="3246120" cy="539750"/>
          </a:xfrm>
          <a:prstGeom prst="rect">
            <a:avLst/>
          </a:prstGeom>
          <a:noFill/>
        </p:spPr>
        <p:txBody>
          <a:bodyPr wrap="square" lIns="0" tIns="0" rIns="0" bIns="0" anchor="t">
            <a:spAutoFit/>
          </a:bodyPr>
          <a:lstStyle/>
          <a:p>
            <a:pPr algn="l"/>
            <a:r>
              <a:rPr sz="3400" b="1" i="0">
                <a:solidFill>
                  <a:srgbClr val="0968B1"/>
                </a:solidFill>
                <a:latin typeface="Calibri"/>
              </a:rPr>
              <a:t>76 %</a:t>
            </a:r>
          </a:p>
        </p:txBody>
      </p:sp>
      <p:sp>
        <p:nvSpPr>
          <p:cNvPr id="15" name="TextBox 14"/>
          <p:cNvSpPr txBox="1"/>
          <p:nvPr/>
        </p:nvSpPr>
        <p:spPr>
          <a:xfrm>
            <a:off x="8183879" y="5386070"/>
            <a:ext cx="3246120" cy="557530"/>
          </a:xfrm>
          <a:prstGeom prst="rect">
            <a:avLst/>
          </a:prstGeom>
          <a:noFill/>
        </p:spPr>
        <p:txBody>
          <a:bodyPr wrap="square" lIns="0" tIns="0" rIns="0" bIns="0" anchor="t">
            <a:spAutoFit/>
          </a:bodyPr>
          <a:lstStyle/>
          <a:p>
            <a:pPr algn="l"/>
            <a:r>
              <a:rPr sz="1250" b="0" i="0">
                <a:solidFill>
                  <a:srgbClr val="1F2D3D"/>
                </a:solidFill>
                <a:latin typeface="Calibri"/>
              </a:rPr>
              <a:t>de las 400 empresas llamadas (el 20 % de mayor riesgo) sí se iban (305 de 400)</a:t>
            </a:r>
          </a:p>
        </p:txBody>
      </p:sp>
      <p:sp>
        <p:nvSpPr>
          <p:cNvPr id="16" name="TextBox 15"/>
          <p:cNvSpPr txBox="1"/>
          <p:nvPr/>
        </p:nvSpPr>
        <p:spPr>
          <a:xfrm>
            <a:off x="548640" y="4983480"/>
            <a:ext cx="7040880" cy="1005840"/>
          </a:xfrm>
          <a:prstGeom prst="rect">
            <a:avLst/>
          </a:prstGeom>
          <a:noFill/>
        </p:spPr>
        <p:txBody>
          <a:bodyPr wrap="square" lIns="0" tIns="0" rIns="0" bIns="0" anchor="t">
            <a:spAutoFit/>
          </a:bodyPr>
          <a:lstStyle/>
          <a:p>
            <a:pPr algn="l"/>
            <a:r>
              <a:rPr sz="1300" b="1" i="0">
                <a:solidFill>
                  <a:srgbClr val="0B3A63"/>
                </a:solidFill>
                <a:latin typeface="Calibri"/>
              </a:rPr>
              <a:t>Cómo leerla: </a:t>
            </a:r>
          </a:p>
          <a:p>
            <a:pPr algn="l"/>
            <a:r>
              <a:rPr sz="1300" b="0" i="0">
                <a:solidFill>
                  <a:srgbClr val="1F2D3D"/>
                </a:solidFill>
                <a:latin typeface="Calibri"/>
              </a:rPr>
              <a:t>la diagonal azul y gris son los aciertos; los cuadros amarillos son los errores. La política de llamar al 20 % de mayor riesgo gana precisión a cambio de dejar más desafiliaciones sin atender.</a:t>
            </a:r>
          </a:p>
        </p:txBody>
      </p:sp>
      <p:sp>
        <p:nvSpPr>
          <p:cNvPr id="17" name="TextBox 16"/>
          <p:cNvSpPr txBox="1"/>
          <p:nvPr/>
        </p:nvSpPr>
        <p:spPr>
          <a:xfrm>
            <a:off x="548640" y="6053328"/>
            <a:ext cx="11064240" cy="320040"/>
          </a:xfrm>
          <a:prstGeom prst="rect">
            <a:avLst/>
          </a:prstGeom>
          <a:noFill/>
        </p:spPr>
        <p:txBody>
          <a:bodyPr wrap="square" lIns="0" tIns="0" rIns="0" bIns="0" anchor="t">
            <a:spAutoFit/>
          </a:bodyPr>
          <a:lstStyle/>
          <a:p>
            <a:pPr algn="l"/>
            <a:r>
              <a:rPr sz="1100" b="0" i="1">
                <a:solidFill>
                  <a:srgbClr val="5A6878"/>
                </a:solidFill>
                <a:latin typeface="Calibri"/>
              </a:rPr>
              <a:t>Cifras del análisis, por validar. Hold-out de 2.000 empresas (606 desafiliaciones reales).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418320" cy="1097280"/>
          </a:xfrm>
          <a:prstGeom prst="rect">
            <a:avLst/>
          </a:prstGeom>
          <a:noFill/>
        </p:spPr>
        <p:txBody>
          <a:bodyPr wrap="square" lIns="0" tIns="0" rIns="0" bIns="0" anchor="t">
            <a:spAutoFit/>
          </a:bodyPr>
          <a:lstStyle/>
          <a:p>
            <a:pPr algn="l"/>
            <a:r>
              <a:rPr sz="2900" b="1" i="0">
                <a:solidFill>
                  <a:srgbClr val="0B3A63"/>
                </a:solidFill>
                <a:latin typeface="Calibri"/>
              </a:rPr>
              <a:t>Llamando al 20 % de mayor riesgo se capturan 5 de cada 10 desafiliaciones</a:t>
            </a:r>
          </a:p>
        </p:txBody>
      </p:sp>
      <p:pic>
        <p:nvPicPr>
          <p:cNvPr id="3" name="Picture 2" descr="logo.png"/>
          <p:cNvPicPr>
            <a:picLocks noChangeAspect="1"/>
          </p:cNvPicPr>
          <p:nvPr/>
        </p:nvPicPr>
        <p:blipFill>
          <a:blip r:embed="rId3"/>
          <a:stretch>
            <a:fillRect/>
          </a:stretch>
        </p:blipFill>
        <p:spPr>
          <a:xfrm>
            <a:off x="10104120" y="457200"/>
            <a:ext cx="1554480" cy="296740"/>
          </a:xfrm>
          <a:prstGeom prst="rect">
            <a:avLst/>
          </a:prstGeom>
        </p:spPr>
      </p:pic>
      <p:sp>
        <p:nvSpPr>
          <p:cNvPr id="4" name="TextBox 3"/>
          <p:cNvSpPr txBox="1"/>
          <p:nvPr/>
        </p:nvSpPr>
        <p:spPr>
          <a:xfrm>
            <a:off x="548640" y="6428232"/>
            <a:ext cx="7315200" cy="228600"/>
          </a:xfrm>
          <a:prstGeom prst="rect">
            <a:avLst/>
          </a:prstGeom>
          <a:noFill/>
        </p:spPr>
        <p:txBody>
          <a:bodyPr wrap="square" lIns="0" tIns="0" rIns="0" bIns="0" anchor="t">
            <a:spAutoFit/>
          </a:bodyPr>
          <a:lstStyle/>
          <a:p>
            <a:pPr algn="l"/>
            <a:r>
              <a:rPr sz="1000" b="0" i="0">
                <a:solidFill>
                  <a:srgbClr val="5A6878"/>
                </a:solidFill>
                <a:latin typeface="Calibri"/>
              </a:rPr>
              <a:t>Problema 2 · Riesgo de desafiliación de empresas afiliadas</a:t>
            </a:r>
          </a:p>
        </p:txBody>
      </p:sp>
      <p:sp>
        <p:nvSpPr>
          <p:cNvPr id="5" name="TextBox 4"/>
          <p:cNvSpPr txBox="1"/>
          <p:nvPr/>
        </p:nvSpPr>
        <p:spPr>
          <a:xfrm>
            <a:off x="11064240" y="6428232"/>
            <a:ext cx="594360" cy="228600"/>
          </a:xfrm>
          <a:prstGeom prst="rect">
            <a:avLst/>
          </a:prstGeom>
          <a:noFill/>
        </p:spPr>
        <p:txBody>
          <a:bodyPr wrap="square" lIns="0" tIns="0" rIns="0" bIns="0" anchor="t">
            <a:spAutoFit/>
          </a:bodyPr>
          <a:lstStyle/>
          <a:p>
            <a:pPr algn="r"/>
            <a:r>
              <a:rPr sz="1000" b="0" i="0">
                <a:solidFill>
                  <a:srgbClr val="5A6878"/>
                </a:solidFill>
                <a:latin typeface="Calibri"/>
              </a:rPr>
              <a:t>8</a:t>
            </a:r>
          </a:p>
        </p:txBody>
      </p:sp>
      <p:pic>
        <p:nvPicPr>
          <p:cNvPr id="6" name="Picture 5" descr="F_deciles.png"/>
          <p:cNvPicPr>
            <a:picLocks noChangeAspect="1"/>
          </p:cNvPicPr>
          <p:nvPr/>
        </p:nvPicPr>
        <p:blipFill>
          <a:blip r:embed="rId4"/>
          <a:stretch>
            <a:fillRect/>
          </a:stretch>
        </p:blipFill>
        <p:spPr>
          <a:xfrm>
            <a:off x="457200" y="1737360"/>
            <a:ext cx="6766560" cy="4184583"/>
          </a:xfrm>
          <a:prstGeom prst="rect">
            <a:avLst/>
          </a:prstGeom>
        </p:spPr>
      </p:pic>
      <p:sp>
        <p:nvSpPr>
          <p:cNvPr id="7" name="Rounded Rectangle 6"/>
          <p:cNvSpPr/>
          <p:nvPr/>
        </p:nvSpPr>
        <p:spPr>
          <a:xfrm>
            <a:off x="7543800" y="1737360"/>
            <a:ext cx="4114800" cy="132588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0" y="1874519"/>
            <a:ext cx="3657600" cy="476250"/>
          </a:xfrm>
          <a:prstGeom prst="rect">
            <a:avLst/>
          </a:prstGeom>
          <a:noFill/>
        </p:spPr>
        <p:txBody>
          <a:bodyPr wrap="square" lIns="0" tIns="0" rIns="0" bIns="0" anchor="t">
            <a:spAutoFit/>
          </a:bodyPr>
          <a:lstStyle/>
          <a:p>
            <a:pPr algn="l"/>
            <a:r>
              <a:rPr sz="3000" b="1" i="0">
                <a:solidFill>
                  <a:srgbClr val="0968B1"/>
                </a:solidFill>
                <a:latin typeface="Calibri"/>
              </a:rPr>
              <a:t>88 de cada 100</a:t>
            </a:r>
          </a:p>
        </p:txBody>
      </p:sp>
      <p:sp>
        <p:nvSpPr>
          <p:cNvPr id="9" name="TextBox 8"/>
          <p:cNvSpPr txBox="1"/>
          <p:nvPr/>
        </p:nvSpPr>
        <p:spPr>
          <a:xfrm>
            <a:off x="7772400" y="2396490"/>
            <a:ext cx="3657600" cy="575309"/>
          </a:xfrm>
          <a:prstGeom prst="rect">
            <a:avLst/>
          </a:prstGeom>
          <a:noFill/>
        </p:spPr>
        <p:txBody>
          <a:bodyPr wrap="square" lIns="0" tIns="0" rIns="0" bIns="0" anchor="t">
            <a:spAutoFit/>
          </a:bodyPr>
          <a:lstStyle/>
          <a:p>
            <a:pPr algn="l"/>
            <a:r>
              <a:rPr sz="1250" b="0" i="0">
                <a:solidFill>
                  <a:srgbClr val="1F2D3D"/>
                </a:solidFill>
                <a:latin typeface="Calibri"/>
              </a:rPr>
              <a:t>empresas del grupo de mayor riesgo se desafilian (promedio: 30 de cada 100)</a:t>
            </a:r>
          </a:p>
        </p:txBody>
      </p:sp>
      <p:sp>
        <p:nvSpPr>
          <p:cNvPr id="10" name="Rounded Rectangle 9"/>
          <p:cNvSpPr/>
          <p:nvPr/>
        </p:nvSpPr>
        <p:spPr>
          <a:xfrm>
            <a:off x="7543800" y="3200400"/>
            <a:ext cx="4114800" cy="132588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0" y="3337560"/>
            <a:ext cx="3657600" cy="476250"/>
          </a:xfrm>
          <a:prstGeom prst="rect">
            <a:avLst/>
          </a:prstGeom>
          <a:noFill/>
        </p:spPr>
        <p:txBody>
          <a:bodyPr wrap="square" lIns="0" tIns="0" rIns="0" bIns="0" anchor="t">
            <a:spAutoFit/>
          </a:bodyPr>
          <a:lstStyle/>
          <a:p>
            <a:pPr algn="l"/>
            <a:r>
              <a:rPr sz="3000" b="1" i="0">
                <a:solidFill>
                  <a:srgbClr val="0968B1"/>
                </a:solidFill>
                <a:latin typeface="Calibri"/>
              </a:rPr>
              <a:t>305 de 606</a:t>
            </a:r>
          </a:p>
        </p:txBody>
      </p:sp>
      <p:sp>
        <p:nvSpPr>
          <p:cNvPr id="12" name="TextBox 11"/>
          <p:cNvSpPr txBox="1"/>
          <p:nvPr/>
        </p:nvSpPr>
        <p:spPr>
          <a:xfrm>
            <a:off x="7772400" y="3859530"/>
            <a:ext cx="3657600" cy="575309"/>
          </a:xfrm>
          <a:prstGeom prst="rect">
            <a:avLst/>
          </a:prstGeom>
          <a:noFill/>
        </p:spPr>
        <p:txBody>
          <a:bodyPr wrap="square" lIns="0" tIns="0" rIns="0" bIns="0" anchor="t">
            <a:spAutoFit/>
          </a:bodyPr>
          <a:lstStyle/>
          <a:p>
            <a:pPr algn="l"/>
            <a:r>
              <a:rPr sz="1250" b="0" i="0">
                <a:solidFill>
                  <a:srgbClr val="1F2D3D"/>
                </a:solidFill>
                <a:latin typeface="Calibri"/>
              </a:rPr>
              <a:t>desafiliaciones capturadas llamando solo a 400 empresas (50 %)</a:t>
            </a:r>
          </a:p>
        </p:txBody>
      </p:sp>
      <p:sp>
        <p:nvSpPr>
          <p:cNvPr id="13" name="Rounded Rectangle 12"/>
          <p:cNvSpPr/>
          <p:nvPr/>
        </p:nvSpPr>
        <p:spPr>
          <a:xfrm>
            <a:off x="7543800" y="4663440"/>
            <a:ext cx="4114800" cy="1371600"/>
          </a:xfrm>
          <a:prstGeom prst="roundRect">
            <a:avLst>
              <a:gd name="adj" fmla="val 7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0" y="4800600"/>
            <a:ext cx="3657600" cy="476250"/>
          </a:xfrm>
          <a:prstGeom prst="rect">
            <a:avLst/>
          </a:prstGeom>
          <a:noFill/>
        </p:spPr>
        <p:txBody>
          <a:bodyPr wrap="square" lIns="0" tIns="0" rIns="0" bIns="0" anchor="t">
            <a:spAutoFit/>
          </a:bodyPr>
          <a:lstStyle/>
          <a:p>
            <a:pPr algn="l"/>
            <a:r>
              <a:rPr sz="3000" b="1" i="0">
                <a:solidFill>
                  <a:srgbClr val="0968B1"/>
                </a:solidFill>
                <a:latin typeface="Calibri"/>
              </a:rPr>
              <a:t>42 % → 30 %</a:t>
            </a:r>
          </a:p>
        </p:txBody>
      </p:sp>
      <p:sp>
        <p:nvSpPr>
          <p:cNvPr id="15" name="TextBox 14"/>
          <p:cNvSpPr txBox="1"/>
          <p:nvPr/>
        </p:nvSpPr>
        <p:spPr>
          <a:xfrm>
            <a:off x="7772400" y="5322570"/>
            <a:ext cx="3657600" cy="621029"/>
          </a:xfrm>
          <a:prstGeom prst="rect">
            <a:avLst/>
          </a:prstGeom>
          <a:noFill/>
        </p:spPr>
        <p:txBody>
          <a:bodyPr wrap="square" lIns="0" tIns="0" rIns="0" bIns="0" anchor="t">
            <a:spAutoFit/>
          </a:bodyPr>
          <a:lstStyle/>
          <a:p>
            <a:pPr algn="l"/>
            <a:r>
              <a:rPr sz="1250" b="0" i="0">
                <a:solidFill>
                  <a:srgbClr val="1F2D3D"/>
                </a:solidFill>
                <a:latin typeface="Calibri"/>
              </a:rPr>
              <a:t>riesgo promedio antes y después de calibrar; el real es 30 %</a:t>
            </a:r>
          </a:p>
        </p:txBody>
      </p:sp>
      <p:sp>
        <p:nvSpPr>
          <p:cNvPr id="16" name="TextBox 15"/>
          <p:cNvSpPr txBox="1"/>
          <p:nvPr/>
        </p:nvSpPr>
        <p:spPr>
          <a:xfrm>
            <a:off x="548640" y="6053328"/>
            <a:ext cx="11064240" cy="320040"/>
          </a:xfrm>
          <a:prstGeom prst="rect">
            <a:avLst/>
          </a:prstGeom>
          <a:noFill/>
        </p:spPr>
        <p:txBody>
          <a:bodyPr wrap="square" lIns="0" tIns="0" rIns="0" bIns="0" anchor="t">
            <a:spAutoFit/>
          </a:bodyPr>
          <a:lstStyle/>
          <a:p>
            <a:pPr algn="l"/>
            <a:r>
              <a:rPr sz="1100" b="0" i="1">
                <a:solidFill>
                  <a:srgbClr val="5A6878"/>
                </a:solidFill>
                <a:latin typeface="Calibri"/>
              </a:rPr>
              <a:t>Cifras del análisis, por validar. Hold-out de 2.000 empresas. El valor de retener una empresa y el costo de gestionarla no están en los datos: los aportan las áreas.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68B1"/>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9418320" cy="1097280"/>
          </a:xfrm>
          <a:prstGeom prst="rect">
            <a:avLst/>
          </a:prstGeom>
          <a:noFill/>
        </p:spPr>
        <p:txBody>
          <a:bodyPr wrap="square" lIns="0" tIns="0" rIns="0" bIns="0" anchor="t">
            <a:spAutoFit/>
          </a:bodyPr>
          <a:lstStyle/>
          <a:p>
            <a:pPr algn="l"/>
            <a:r>
              <a:rPr sz="2900" b="1" i="0">
                <a:solidFill>
                  <a:srgbClr val="FFFFFF"/>
                </a:solidFill>
                <a:latin typeface="Calibri"/>
              </a:rPr>
              <a:t>Un modelo que acierta, se explica y ordena la cartera: usarlo ya y probar las acciones con un piloto</a:t>
            </a:r>
          </a:p>
        </p:txBody>
      </p:sp>
      <p:sp>
        <p:nvSpPr>
          <p:cNvPr id="3" name="TextBox 2"/>
          <p:cNvSpPr txBox="1"/>
          <p:nvPr/>
        </p:nvSpPr>
        <p:spPr>
          <a:xfrm>
            <a:off x="548640" y="6428232"/>
            <a:ext cx="7315200" cy="228600"/>
          </a:xfrm>
          <a:prstGeom prst="rect">
            <a:avLst/>
          </a:prstGeom>
          <a:noFill/>
        </p:spPr>
        <p:txBody>
          <a:bodyPr wrap="square" lIns="0" tIns="0" rIns="0" bIns="0" anchor="t">
            <a:spAutoFit/>
          </a:bodyPr>
          <a:lstStyle/>
          <a:p>
            <a:pPr algn="l"/>
            <a:r>
              <a:rPr sz="1000" b="0" i="0">
                <a:solidFill>
                  <a:srgbClr val="CFE3F3"/>
                </a:solidFill>
                <a:latin typeface="Calibri"/>
              </a:rPr>
              <a:t>Problema 2 · Riesgo de desafiliación de empresas afiliadas</a:t>
            </a:r>
          </a:p>
        </p:txBody>
      </p:sp>
      <p:sp>
        <p:nvSpPr>
          <p:cNvPr id="4" name="TextBox 3"/>
          <p:cNvSpPr txBox="1"/>
          <p:nvPr/>
        </p:nvSpPr>
        <p:spPr>
          <a:xfrm>
            <a:off x="11064240" y="6428232"/>
            <a:ext cx="594360" cy="228600"/>
          </a:xfrm>
          <a:prstGeom prst="rect">
            <a:avLst/>
          </a:prstGeom>
          <a:noFill/>
        </p:spPr>
        <p:txBody>
          <a:bodyPr wrap="square" lIns="0" tIns="0" rIns="0" bIns="0" anchor="t">
            <a:spAutoFit/>
          </a:bodyPr>
          <a:lstStyle/>
          <a:p>
            <a:pPr algn="r"/>
            <a:r>
              <a:rPr sz="1000" b="0" i="0">
                <a:solidFill>
                  <a:srgbClr val="CFE3F3"/>
                </a:solidFill>
                <a:latin typeface="Calibri"/>
              </a:rPr>
              <a:t>9</a:t>
            </a:r>
          </a:p>
        </p:txBody>
      </p:sp>
      <p:sp>
        <p:nvSpPr>
          <p:cNvPr id="5" name="Rounded Rectangle 4"/>
          <p:cNvSpPr/>
          <p:nvPr/>
        </p:nvSpPr>
        <p:spPr>
          <a:xfrm>
            <a:off x="548640" y="1737360"/>
            <a:ext cx="3520440" cy="361188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59" y="1965960"/>
            <a:ext cx="548640" cy="548640"/>
          </a:xfrm>
          <a:prstGeom prst="ellipse">
            <a:avLst/>
          </a:prstGeom>
          <a:solidFill>
            <a:srgbClr val="FFC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0B3A63"/>
                </a:solidFill>
                <a:latin typeface="Calibri"/>
              </a:rPr>
              <a:t>1</a:t>
            </a:r>
          </a:p>
        </p:txBody>
      </p:sp>
      <p:sp>
        <p:nvSpPr>
          <p:cNvPr id="7" name="TextBox 6"/>
          <p:cNvSpPr txBox="1"/>
          <p:nvPr/>
        </p:nvSpPr>
        <p:spPr>
          <a:xfrm>
            <a:off x="1508760" y="2011680"/>
            <a:ext cx="2468880" cy="502920"/>
          </a:xfrm>
          <a:prstGeom prst="rect">
            <a:avLst/>
          </a:prstGeom>
          <a:noFill/>
        </p:spPr>
        <p:txBody>
          <a:bodyPr wrap="square" lIns="0" tIns="0" rIns="0" bIns="0" anchor="ctr">
            <a:spAutoFit/>
          </a:bodyPr>
          <a:lstStyle/>
          <a:p>
            <a:pPr algn="l"/>
            <a:r>
              <a:rPr sz="2000" b="1" i="0">
                <a:solidFill>
                  <a:srgbClr val="0B3A63"/>
                </a:solidFill>
                <a:latin typeface="Calibri"/>
              </a:rPr>
              <a:t>Usar ya</a:t>
            </a:r>
          </a:p>
        </p:txBody>
      </p:sp>
      <p:sp>
        <p:nvSpPr>
          <p:cNvPr id="8" name="TextBox 7"/>
          <p:cNvSpPr txBox="1"/>
          <p:nvPr/>
        </p:nvSpPr>
        <p:spPr>
          <a:xfrm>
            <a:off x="822959" y="2743200"/>
            <a:ext cx="3017520" cy="2560320"/>
          </a:xfrm>
          <a:prstGeom prst="rect">
            <a:avLst/>
          </a:prstGeom>
          <a:noFill/>
        </p:spPr>
        <p:txBody>
          <a:bodyPr wrap="square" lIns="0" tIns="0" rIns="0" bIns="0" anchor="t">
            <a:spAutoFit/>
          </a:bodyPr>
          <a:lstStyle/>
          <a:p>
            <a:pPr marL="228600" indent="-228600" algn="l">
              <a:buFont typeface="Arial"/>
              <a:buChar char="•"/>
            </a:pPr>
            <a:r>
              <a:rPr sz="1350" b="0" i="0">
                <a:solidFill>
                  <a:srgbClr val="1F2D3D"/>
                </a:solidFill>
                <a:latin typeface="Calibri"/>
              </a:rPr>
              <a:t>Llamar primero a los 2 grupos de mayor riesgo (400 empresas): concentran 5 de cada 10 desafiliaciones.</a:t>
            </a:r>
          </a:p>
          <a:p>
            <a:pPr marL="228600" indent="-228600" algn="l">
              <a:spcBef>
                <a:spcPts val="800"/>
              </a:spcBef>
              <a:buFont typeface="Arial"/>
              <a:buChar char="•"/>
            </a:pPr>
            <a:r>
              <a:rPr sz="1350" b="0" i="0">
                <a:solidFill>
                  <a:srgbClr val="1F2D3D"/>
                </a:solidFill>
                <a:latin typeface="Calibri"/>
              </a:rPr>
              <a:t>Grupos 3 y 4: acciones de bajo costo, como comunicación automatizada y encuesta de satisfacción.</a:t>
            </a:r>
          </a:p>
          <a:p>
            <a:pPr marL="228600" indent="-228600" algn="l">
              <a:spcBef>
                <a:spcPts val="800"/>
              </a:spcBef>
              <a:buFont typeface="Arial"/>
              <a:buChar char="•"/>
            </a:pPr>
            <a:r>
              <a:rPr sz="1350" b="0" i="0">
                <a:solidFill>
                  <a:srgbClr val="1F2D3D"/>
                </a:solidFill>
                <a:latin typeface="Calibri"/>
              </a:rPr>
              <a:t>Grupos 5 a 10: solo monitoreo.</a:t>
            </a:r>
          </a:p>
        </p:txBody>
      </p:sp>
      <p:sp>
        <p:nvSpPr>
          <p:cNvPr id="9" name="Rounded Rectangle 8"/>
          <p:cNvSpPr/>
          <p:nvPr/>
        </p:nvSpPr>
        <p:spPr>
          <a:xfrm>
            <a:off x="4297679" y="1737360"/>
            <a:ext cx="3520440" cy="361188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71999" y="1965960"/>
            <a:ext cx="548640" cy="548640"/>
          </a:xfrm>
          <a:prstGeom prst="ellipse">
            <a:avLst/>
          </a:prstGeom>
          <a:solidFill>
            <a:srgbClr val="FFC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0B3A63"/>
                </a:solidFill>
                <a:latin typeface="Calibri"/>
              </a:rPr>
              <a:t>2</a:t>
            </a:r>
          </a:p>
        </p:txBody>
      </p:sp>
      <p:sp>
        <p:nvSpPr>
          <p:cNvPr id="11" name="TextBox 10"/>
          <p:cNvSpPr txBox="1"/>
          <p:nvPr/>
        </p:nvSpPr>
        <p:spPr>
          <a:xfrm>
            <a:off x="5257799" y="2011680"/>
            <a:ext cx="2468880" cy="502920"/>
          </a:xfrm>
          <a:prstGeom prst="rect">
            <a:avLst/>
          </a:prstGeom>
          <a:noFill/>
        </p:spPr>
        <p:txBody>
          <a:bodyPr wrap="square" lIns="0" tIns="0" rIns="0" bIns="0" anchor="ctr">
            <a:spAutoFit/>
          </a:bodyPr>
          <a:lstStyle/>
          <a:p>
            <a:pPr algn="l"/>
            <a:r>
              <a:rPr sz="2000" b="1" i="0">
                <a:solidFill>
                  <a:srgbClr val="0B3A63"/>
                </a:solidFill>
                <a:latin typeface="Calibri"/>
              </a:rPr>
              <a:t>Probar con un piloto</a:t>
            </a:r>
          </a:p>
        </p:txBody>
      </p:sp>
      <p:sp>
        <p:nvSpPr>
          <p:cNvPr id="12" name="TextBox 11"/>
          <p:cNvSpPr txBox="1"/>
          <p:nvPr/>
        </p:nvSpPr>
        <p:spPr>
          <a:xfrm>
            <a:off x="4571999" y="2743200"/>
            <a:ext cx="3017520" cy="2560320"/>
          </a:xfrm>
          <a:prstGeom prst="rect">
            <a:avLst/>
          </a:prstGeom>
          <a:noFill/>
        </p:spPr>
        <p:txBody>
          <a:bodyPr wrap="square" lIns="0" tIns="0" rIns="0" bIns="0" anchor="t">
            <a:spAutoFit/>
          </a:bodyPr>
          <a:lstStyle/>
          <a:p>
            <a:pPr marL="228600" indent="-228600" algn="l">
              <a:buFont typeface="Arial"/>
              <a:buChar char="•"/>
            </a:pPr>
            <a:r>
              <a:rPr sz="1350" b="0" i="0">
                <a:solidFill>
                  <a:srgbClr val="1F2D3D"/>
                </a:solidFill>
                <a:latin typeface="Calibri"/>
              </a:rPr>
              <a:t>Satisfacción, uso de servicios y digitalización: lo que Colsubsidio puede mover con la empresa.</a:t>
            </a:r>
          </a:p>
          <a:p>
            <a:pPr marL="228600" indent="-228600" algn="l">
              <a:spcBef>
                <a:spcPts val="800"/>
              </a:spcBef>
              <a:buFont typeface="Arial"/>
              <a:buChar char="•"/>
            </a:pPr>
            <a:r>
              <a:rPr sz="1350" b="0" i="0">
                <a:solidFill>
                  <a:srgbClr val="1F2D3D"/>
                </a:solidFill>
                <a:latin typeface="Calibri"/>
              </a:rPr>
              <a:t>Un grupo de empresas con acompañamiento y otro de comparación.</a:t>
            </a:r>
          </a:p>
          <a:p>
            <a:pPr marL="228600" indent="-228600" algn="l">
              <a:spcBef>
                <a:spcPts val="800"/>
              </a:spcBef>
              <a:buFont typeface="Arial"/>
              <a:buChar char="•"/>
            </a:pPr>
            <a:r>
              <a:rPr sz="1350" b="0" i="0">
                <a:solidFill>
                  <a:srgbClr val="1F2D3D"/>
                </a:solidFill>
                <a:latin typeface="Calibri"/>
              </a:rPr>
              <a:t>Tomar la rotación alta como alerta temprana de desafiliación.</a:t>
            </a:r>
          </a:p>
        </p:txBody>
      </p:sp>
      <p:sp>
        <p:nvSpPr>
          <p:cNvPr id="13" name="Rounded Rectangle 12"/>
          <p:cNvSpPr/>
          <p:nvPr/>
        </p:nvSpPr>
        <p:spPr>
          <a:xfrm>
            <a:off x="8046719" y="1737360"/>
            <a:ext cx="3520440" cy="361188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321040" y="1965960"/>
            <a:ext cx="548640" cy="548640"/>
          </a:xfrm>
          <a:prstGeom prst="ellipse">
            <a:avLst/>
          </a:prstGeom>
          <a:solidFill>
            <a:srgbClr val="FFCF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0B3A63"/>
                </a:solidFill>
                <a:latin typeface="Calibri"/>
              </a:rPr>
              <a:t>3</a:t>
            </a:r>
          </a:p>
        </p:txBody>
      </p:sp>
      <p:sp>
        <p:nvSpPr>
          <p:cNvPr id="15" name="TextBox 14"/>
          <p:cNvSpPr txBox="1"/>
          <p:nvPr/>
        </p:nvSpPr>
        <p:spPr>
          <a:xfrm>
            <a:off x="9006840" y="2011680"/>
            <a:ext cx="2468880" cy="502920"/>
          </a:xfrm>
          <a:prstGeom prst="rect">
            <a:avLst/>
          </a:prstGeom>
          <a:noFill/>
        </p:spPr>
        <p:txBody>
          <a:bodyPr wrap="square" lIns="0" tIns="0" rIns="0" bIns="0" anchor="ctr">
            <a:spAutoFit/>
          </a:bodyPr>
          <a:lstStyle/>
          <a:p>
            <a:pPr algn="l"/>
            <a:r>
              <a:rPr sz="2000" b="1" i="0">
                <a:solidFill>
                  <a:srgbClr val="0B3A63"/>
                </a:solidFill>
                <a:latin typeface="Calibri"/>
              </a:rPr>
              <a:t>Para fortalecer el modelo</a:t>
            </a:r>
          </a:p>
        </p:txBody>
      </p:sp>
      <p:sp>
        <p:nvSpPr>
          <p:cNvPr id="16" name="TextBox 15"/>
          <p:cNvSpPr txBox="1"/>
          <p:nvPr/>
        </p:nvSpPr>
        <p:spPr>
          <a:xfrm>
            <a:off x="8321040" y="2743200"/>
            <a:ext cx="3017520" cy="2560320"/>
          </a:xfrm>
          <a:prstGeom prst="rect">
            <a:avLst/>
          </a:prstGeom>
          <a:noFill/>
        </p:spPr>
        <p:txBody>
          <a:bodyPr wrap="square" lIns="0" tIns="0" rIns="0" bIns="0" anchor="t">
            <a:spAutoFit/>
          </a:bodyPr>
          <a:lstStyle/>
          <a:p>
            <a:pPr marL="228600" indent="-228600" algn="l">
              <a:buFont typeface="Arial"/>
              <a:buChar char="•"/>
            </a:pPr>
            <a:r>
              <a:rPr sz="1350" b="0" i="0">
                <a:solidFill>
                  <a:srgbClr val="1F2D3D"/>
                </a:solidFill>
                <a:latin typeface="Calibri"/>
              </a:rPr>
              <a:t>Definir con la gerencia el valor de retener una empresa y el costo de gestionarla.</a:t>
            </a:r>
          </a:p>
          <a:p>
            <a:pPr marL="228600" indent="-228600" algn="l">
              <a:spcBef>
                <a:spcPts val="800"/>
              </a:spcBef>
              <a:buFont typeface="Arial"/>
              <a:buChar char="•"/>
            </a:pPr>
            <a:r>
              <a:rPr sz="1350" b="0" i="0">
                <a:solidFill>
                  <a:srgbClr val="1F2D3D"/>
                </a:solidFill>
                <a:latin typeface="Calibri"/>
              </a:rPr>
              <a:t>Reentrenar y recalibrar cada trimestre con las desafiliaciones nuevas.</a:t>
            </a:r>
          </a:p>
          <a:p>
            <a:pPr marL="228600" indent="-228600" algn="l">
              <a:spcBef>
                <a:spcPts val="800"/>
              </a:spcBef>
              <a:buFont typeface="Arial"/>
              <a:buChar char="•"/>
            </a:pPr>
            <a:r>
              <a:rPr sz="1350" b="0" i="0">
                <a:solidFill>
                  <a:srgbClr val="1F2D3D"/>
                </a:solidFill>
                <a:latin typeface="Calibri"/>
              </a:rPr>
              <a:t>Seguir el desempeño por grupo de riesgo.</a:t>
            </a:r>
          </a:p>
        </p:txBody>
      </p:sp>
      <p:sp>
        <p:nvSpPr>
          <p:cNvPr id="17" name="TextBox 16"/>
          <p:cNvSpPr txBox="1"/>
          <p:nvPr/>
        </p:nvSpPr>
        <p:spPr>
          <a:xfrm>
            <a:off x="548640" y="5532120"/>
            <a:ext cx="2743200" cy="731520"/>
          </a:xfrm>
          <a:prstGeom prst="rect">
            <a:avLst/>
          </a:prstGeom>
          <a:noFill/>
        </p:spPr>
        <p:txBody>
          <a:bodyPr wrap="square" lIns="0" tIns="0" rIns="0" bIns="0" anchor="ctr">
            <a:spAutoFit/>
          </a:bodyPr>
          <a:lstStyle/>
          <a:p>
            <a:pPr algn="l"/>
            <a:r>
              <a:rPr sz="4000" b="1" i="0">
                <a:solidFill>
                  <a:srgbClr val="FFCF00"/>
                </a:solidFill>
                <a:latin typeface="Calibri"/>
              </a:rPr>
              <a:t>50 %</a:t>
            </a:r>
          </a:p>
        </p:txBody>
      </p:sp>
      <p:sp>
        <p:nvSpPr>
          <p:cNvPr id="18" name="TextBox 17"/>
          <p:cNvSpPr txBox="1"/>
          <p:nvPr/>
        </p:nvSpPr>
        <p:spPr>
          <a:xfrm>
            <a:off x="3200400" y="5532120"/>
            <a:ext cx="8412480" cy="731520"/>
          </a:xfrm>
          <a:prstGeom prst="rect">
            <a:avLst/>
          </a:prstGeom>
          <a:noFill/>
        </p:spPr>
        <p:txBody>
          <a:bodyPr wrap="square" lIns="0" tIns="0" rIns="0" bIns="0" anchor="ctr">
            <a:spAutoFit/>
          </a:bodyPr>
          <a:lstStyle/>
          <a:p>
            <a:pPr algn="l"/>
            <a:r>
              <a:rPr sz="1600" b="0" i="0">
                <a:solidFill>
                  <a:srgbClr val="FFFFFF"/>
                </a:solidFill>
                <a:latin typeface="Calibri"/>
              </a:rPr>
              <a:t>de las desafiliaciones capturadas llamando solo al 20 % de las empresas, con una explicación que cualquier equipo puede leer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1846</Words>
  <Application>Microsoft Office PowerPoint</Application>
  <PresentationFormat>Widescreen</PresentationFormat>
  <Paragraphs>116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Daniel Cordoba</cp:lastModifiedBy>
  <cp:revision>1</cp:revision>
  <dcterms:created xsi:type="dcterms:W3CDTF">2013-01-27T09:14:16Z</dcterms:created>
  <dcterms:modified xsi:type="dcterms:W3CDTF">2026-10-05T05:04:31Z</dcterms:modified>
  <cp:category/>
</cp:coreProperties>
</file>