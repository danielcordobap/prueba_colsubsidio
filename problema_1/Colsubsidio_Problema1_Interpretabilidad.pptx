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Reto 1 de la prueba técnica: predecir el aporte mensual de las empresas afiliadas y, sobre todo, poder explicar qué hay detrás de ese aporte.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Más que un número, el negocio necesita entender. Por eso el trabajo tiene tres preguntas: cuánto aportará una empresa, qué factores pesan y cuánto vale cada uno, y qué podemos hacer con eso. El camino fue: revisar los datos, construir y comprobar un modelo, explicarlo en lenguaje de negocio y proponer su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empresa tiene catorce características, que agrupamos en tres familias para poder explicarlas: tamaño y contexto, desempeño interno y relación con Colsubsidio. El aporte típico es de unos 9 millones al mes y unas pocas empresas grandes llegan a 76.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Interpretar un modelo solo tiene sentido si acierta. Pusimos a competir seis enfoques con el mismo examen; el ganador reduce el error 84 % frente a estimar con el valor típico del sector. Con 2.000 empresas apartadas desde el inicio el error típico es 432 mil pesos, un 4,1 %, y el rango de más o menos 5 % acertó en casi 8 de cada 10. Quedó 0,3 puntos por debajo de la meta del 80 %, y lo decimos tal cual.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primera gran respuesta de interpretabilidad. El número de trabajadores pesa 46 de cada 100 en la estimación; después vienen la productividad y el salario. Agrupados por tipo, lo estructural pesa 60 %, el desempeño interno 22 % y lo gestionable con la empresa cerca de 18 %. Es una lectura del modelo de 8 factores y la clasificación por tipo es un criterio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es la traducción a pesos de la explicación. Por ejemplo, cada trabajador adicional se asocia, en promedio, con unos 167 mil pesos más de aporte al mes, y cada servicio adicional con unos 407 mil. Son promedios observados entre empresas y sirven para priorizar dónde conversar. Para el tamaño la relación es casi una recta; en otros factores es más aproximada.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explicación visual del modelo, la misma que muestra el notebook. Cada punto es una empresa del examen final y la línea roja es el promedio. En los cuatro factores la línea sube: a más trabajadores, más productividad, más salario o más formalización, más aporte asociado. El cero es una empresa promedio de la cartera: una empresa por encima de lo habitual en un factor suma, y por debajo resta. Por eso un factor puede aparecer en negativo en una empresa pequeña sin contradecir que más de ese factor se asocia con más aporte.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cifras son el promedio de lo que se observa entre empresas y nos dicen dónde mirar primero. Por eso proponemos un piloto con grupo de comparación antes de prometer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esto podemos arrancar la próxima semana: usar la estimación y su explicación como referencia en las conversaciones y seleccionar un grupo piloto para las palancas. Todo lo demás son hipótesis hasta que el piloto hable. El tamaño y la duración del piloto están por definir con la gerencia.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377440" cy="453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96596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0B3A63"/>
                </a:solidFill>
                <a:latin typeface="Calibri"/>
              </a:rPr>
              <a:t>Predicción del aporte mensual de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A6878"/>
                </a:solidFill>
                <a:latin typeface="Calibri"/>
              </a:rPr>
              <a:t>Reto 1 · Prueba técnica Senior Data Scientist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578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968B1"/>
                </a:solidFill>
                <a:latin typeface="Calibri"/>
              </a:rPr>
              <a:t>Daniel Alejandro Córdoba Pulido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10312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CF00"/>
                </a:solidFill>
                <a:latin typeface="Calibri"/>
              </a:rPr>
              <a:t>Reto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61188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Estimar cuánto aporta cada empresa afiliada y entender qué explica las diferencias entre ellas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¿Qué explica que unas empresas aporten más que otras?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011680"/>
            <a:ext cx="640080" cy="64008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3A63"/>
                </a:solidFill>
                <a:latin typeface="Calibri"/>
              </a:rPr>
              <a:t>¿Cuánto aportará?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91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Estimar el aporte mensual de cada empresa, incluso de una que no conocemos.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2011680"/>
            <a:ext cx="640080" cy="64008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3A63"/>
                </a:solidFill>
                <a:latin typeface="Calibri"/>
              </a:rPr>
              <a:t>¿Qué factores pesan?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291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Traducir la explicación a pesos: cuánto vale cada factor.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3A63"/>
                </a:solidFill>
                <a:latin typeface="Calibri"/>
              </a:rPr>
              <a:t>¿Qué hacemos con eso?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Decidir dónde conversar con cada empresa y qué probar con un piloto.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968B1"/>
                </a:solidFill>
                <a:latin typeface="Calibri"/>
              </a:rPr>
              <a:t>Nuestro foco: un modelo que no solo estime, sino que se pueda explicar a cualquier equipo.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A6878"/>
                </a:solidFill>
                <a:latin typeface="Calibri"/>
              </a:rPr>
              <a:t>El camino que recorrimos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Entender los datos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08960" y="5650992"/>
            <a:ext cx="256032" cy="274320"/>
          </a:xfrm>
          <a:prstGeom prst="rightArrow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8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534924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Construir y comprobar el modelo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43600" y="5650992"/>
            <a:ext cx="256032" cy="274320"/>
          </a:xfrm>
          <a:prstGeom prst="rightArrow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34924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B3A63"/>
                </a:solidFill>
                <a:latin typeface="Calibri"/>
              </a:rPr>
              <a:t>Explicarlo factor por factor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78240" y="5650992"/>
            <a:ext cx="256032" cy="274320"/>
          </a:xfrm>
          <a:prstGeom prst="rightArrow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52560" y="53492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534924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Proponer cómo usarlo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Partimos de 10.000 empresas descritas por 14 características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965960"/>
            <a:ext cx="347472" cy="347472"/>
          </a:xfrm>
          <a:prstGeom prst="ellipse">
            <a:avLst/>
          </a:prstGeom>
          <a:solidFill>
            <a:srgbClr val="0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385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A63"/>
                </a:solidFill>
                <a:latin typeface="Calibri"/>
              </a:rPr>
              <a:t>Tamaño y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D3D"/>
                </a:solidFill>
                <a:latin typeface="Calibri"/>
              </a:rPr>
              <a:t>trabajadores, salario, antigüedad, distancia, competencia, ciudad y sector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36576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429000"/>
            <a:ext cx="347472" cy="347472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A63"/>
                </a:solidFill>
                <a:latin typeface="Calibri"/>
              </a:rPr>
              <a:t>Desempeño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04487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D3D"/>
                </a:solidFill>
                <a:latin typeface="Calibri"/>
              </a:rPr>
              <a:t>productividad, crecimiento de nómina, rotación del personal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3657600" cy="132588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892040"/>
            <a:ext cx="347472" cy="347472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6460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A63"/>
                </a:solidFill>
                <a:latin typeface="Calibri"/>
              </a:rPr>
              <a:t>Relación con Colsubsidio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6752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D3D"/>
                </a:solidFill>
                <a:latin typeface="Calibri"/>
              </a:rPr>
              <a:t>formalización, digitalización, servicios contratados, satisfacción</a:t>
            </a:r>
          </a:p>
        </p:txBody>
      </p:sp>
      <p:pic>
        <p:nvPicPr>
          <p:cNvPr id="18" name="Picture 17" descr="A_da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37360"/>
            <a:ext cx="7223760" cy="37507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80560" y="5623560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A6878"/>
                </a:solidFill>
                <a:latin typeface="Calibri"/>
              </a:rPr>
              <a:t>El aporte típico es de 9,3 millones al mes; unas pocas empresas grandes llegan a 76 millones. Sin datos faltantes ni repetidos.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Antes de interpretar, comprobamos que el modelo acierta con empresas nuevas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C_exam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6675120" cy="40402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691640"/>
            <a:ext cx="4160520" cy="141732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828800"/>
            <a:ext cx="370332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968B1"/>
                </a:solidFill>
                <a:latin typeface="Calibri"/>
              </a:rPr>
              <a:t>4,1 %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509520"/>
            <a:ext cx="370332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error típico (432 mil pesos) con empresas que el modelo nunca vio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246120"/>
            <a:ext cx="416052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3383279"/>
            <a:ext cx="3703320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968B1"/>
                </a:solidFill>
                <a:latin typeface="Calibri"/>
              </a:rPr>
              <a:t>8 de cada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968750"/>
            <a:ext cx="3703320" cy="420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empresas cuyo aporte real cayó dentro del rango de −5 % a +5 % (79,7 %; meta: 80 %)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617720"/>
            <a:ext cx="416052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754880"/>
            <a:ext cx="37033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968B1"/>
                </a:solidFill>
                <a:latin typeface="Calibri"/>
              </a:rPr>
              <a:t>84 %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372100"/>
            <a:ext cx="370332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menos error que estimar con el valor típico del sector; se compararon 6 enfoques y ganó el de menor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El gráfico muestra 150 de las 2.000 empresas del examen final. El modelo explica el 96 % de las diferencias de aporte entre empresas (dato del análisis, por validar).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El tamaño de la empresa explica casi la mitad del aporte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D_pes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6583680" cy="40925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737360"/>
            <a:ext cx="425196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0" y="2011679"/>
            <a:ext cx="685800" cy="685800"/>
          </a:xfrm>
          <a:prstGeom prst="ellipse">
            <a:avLst/>
          </a:prstGeom>
          <a:solidFill>
            <a:srgbClr val="0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47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3A63"/>
                </a:solidFill>
                <a:latin typeface="Calibri"/>
              </a:rPr>
              <a:t>59,9 %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04288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Tamaño y contexto</a:t>
            </a:r>
          </a:p>
          <a:p>
            <a:pPr algn="l"/>
            <a:r>
              <a:rPr sz="1200" b="0" i="0">
                <a:solidFill>
                  <a:srgbClr val="5A6878"/>
                </a:solidFill>
                <a:latin typeface="Calibri"/>
              </a:rPr>
              <a:t>número de trabajadores, salario, antigüedad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108960"/>
            <a:ext cx="425196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0" y="3383279"/>
            <a:ext cx="685800" cy="68580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2186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3A63"/>
                </a:solidFill>
                <a:latin typeface="Calibri"/>
              </a:rPr>
              <a:t>21,6 %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675887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Desempeño interno</a:t>
            </a:r>
          </a:p>
          <a:p>
            <a:pPr algn="l"/>
            <a:r>
              <a:rPr sz="1200" b="0" i="0">
                <a:solidFill>
                  <a:srgbClr val="5A6878"/>
                </a:solidFill>
                <a:latin typeface="Calibri"/>
              </a:rPr>
              <a:t>productividad, crecimiento de nómina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480560"/>
            <a:ext cx="4251960" cy="123444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0" y="4754880"/>
            <a:ext cx="685800" cy="685800"/>
          </a:xfrm>
          <a:prstGeom prst="ellipse">
            <a:avLst/>
          </a:prstGeom>
          <a:solidFill>
            <a:srgbClr val="096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5902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3A63"/>
                </a:solidFill>
                <a:latin typeface="Calibri"/>
              </a:rPr>
              <a:t>18,5 %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047488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Gestionable con la empresa</a:t>
            </a:r>
          </a:p>
          <a:p>
            <a:pPr algn="l"/>
            <a:r>
              <a:rPr sz="1200" b="0" i="0">
                <a:solidFill>
                  <a:srgbClr val="5A6878"/>
                </a:solidFill>
                <a:latin typeface="Calibri"/>
              </a:rPr>
              <a:t>formalización, servicios, digitalización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89788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Lectura del modelo de 8 factores; la clasificación por tipo es un criterio de negocio (cifras del análisis, por validar).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Cada factor se traduce a pesos: cuánto aporte se asocia con una unidad más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758952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2918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109728" marR="109728" marT="36576" marB="36576" anchor="ctr">
                    <a:solidFill>
                      <a:srgbClr val="0968B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Por cada…</a:t>
                      </a:r>
                    </a:p>
                  </a:txBody>
                  <a:tcPr marL="109728" marR="109728" marT="36576" marB="36576" anchor="ctr">
                    <a:solidFill>
                      <a:srgbClr val="0968B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Aporte mensual asociado</a:t>
                      </a:r>
                    </a:p>
                  </a:txBody>
                  <a:tcPr marL="109728" marR="109728" marT="36576" marB="36576" anchor="ctr">
                    <a:solidFill>
                      <a:srgbClr val="0968B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Número de trabajadores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trabajador adicional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+167 mil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Productividad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punto más del índice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+85 mil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Salario promedio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millón de pesos más de salario promedio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+848 mil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Formalización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punto más del índice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+62 mil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Servicios contratados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servicio adicional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+407 mil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Crecimiento de nómina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punto más de crecimiento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+54 mil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Antigüedad de la empresa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año más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+21 mil</a:t>
                      </a:r>
                    </a:p>
                  </a:txBody>
                  <a:tcPr marL="109728" marR="109728" marT="36576" marB="36576" anchor="ctr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Digitalización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punto más del índice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968B1"/>
                          </a:solidFill>
                          <a:latin typeface="Calibri"/>
                        </a:rPr>
                        <a:t>+17 mil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737360"/>
            <a:ext cx="3154680" cy="18288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3A63"/>
                </a:solidFill>
                <a:latin typeface="Calibri"/>
              </a:rPr>
              <a:t>Cómo usarlo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7744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D3D"/>
                </a:solidFill>
                <a:latin typeface="Calibri"/>
              </a:rPr>
              <a:t>Una empresa con 10 trabajadores más tiene, en promedio, un aporte esperado cerca de 1,7 millones mayor al 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749039"/>
            <a:ext cx="3154680" cy="128016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393192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968B1"/>
                </a:solidFill>
                <a:latin typeface="Calibri"/>
              </a:rPr>
              <a:t>Son promedios observados entre empresas: sirven para priorizar dónde conversar.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Cifras del análisis, por validar. Lectura del modelo de 8 factores.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Cada factor suma o resta al aporte según esté por encima o por debajo de lo habitual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G_efec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658368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737360"/>
            <a:ext cx="4343400" cy="41148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A63"/>
                </a:solidFill>
                <a:latin typeface="Calibri"/>
              </a:rPr>
              <a:t>Cómo leer estos gráficos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23160"/>
            <a:ext cx="38404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500" b="0" i="0">
                <a:solidFill>
                  <a:srgbClr val="1F2D3D"/>
                </a:solidFill>
                <a:latin typeface="Calibri"/>
              </a:rPr>
              <a:t>Cada punto es una empresa del examen final; la línea roja es el promedio.</a:t>
            </a:r>
          </a:p>
          <a:p>
            <a:pPr algn="l"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1F2D3D"/>
                </a:solidFill>
                <a:latin typeface="Calibri"/>
              </a:rPr>
              <a:t>La línea sube: a más de ese factor, más aporte asociado.</a:t>
            </a:r>
          </a:p>
          <a:p>
            <a:pPr algn="l" marL="228600" indent="-228600">
              <a:spcBef>
                <a:spcPts val="900"/>
              </a:spcBef>
              <a:buFont typeface="Arial"/>
              <a:buChar char="•"/>
            </a:pPr>
            <a:r>
              <a:rPr sz="1500" b="0" i="0">
                <a:solidFill>
                  <a:srgbClr val="1F2D3D"/>
                </a:solidFill>
                <a:latin typeface="Calibri"/>
              </a:rPr>
              <a:t>El cero es una empresa promedio de la cartera: por encima suma, por debajo resta.</a:t>
            </a:r>
          </a:p>
          <a:p>
            <a:pPr algn="l">
              <a:spcBef>
                <a:spcPts val="900"/>
              </a:spcBef>
            </a:pPr>
            <a:r>
              <a:rPr sz="1500" b="1" i="0">
                <a:solidFill>
                  <a:srgbClr val="0968B1"/>
                </a:solidFill>
                <a:latin typeface="Calibri"/>
              </a:rPr>
              <a:t>Por eso un factor puede restar en una empresa pequeña, sin contradecir que más de ese factor se asocia con más aporte.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Cifras del análisis, por validar. Lectura del modelo de 8 factores; cada efecto se mide frente a una empresa promedio de la cartera.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B3A63"/>
                </a:solidFill>
                <a:latin typeface="Calibri"/>
              </a:rPr>
              <a:t>Tres factores gestionables se asocian con más aporte, pero son hipótesis para un piloto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57200"/>
            <a:ext cx="1554480" cy="2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878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6878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E_palan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3080"/>
            <a:ext cx="6675120" cy="38787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783080"/>
            <a:ext cx="4251960" cy="34290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9659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3A63"/>
                </a:solidFill>
                <a:latin typeface="Calibri"/>
              </a:rPr>
              <a:t>Cómo leer estas cifras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468880"/>
            <a:ext cx="374903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D3D"/>
                </a:solidFill>
                <a:latin typeface="Calibri"/>
              </a:rPr>
              <a:t>Son promedios observados entre empresas: indican dónde mirar primero.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1F2D3D"/>
                </a:solidFill>
                <a:latin typeface="Calibri"/>
              </a:rPr>
              <a:t>Un piloto medirá cuánto aporte adicional trae realmente cada palanca.</a:t>
            </a:r>
          </a:p>
          <a:p>
            <a:pPr algn="l">
              <a:spcBef>
                <a:spcPts val="1200"/>
              </a:spcBef>
            </a:pPr>
            <a:r>
              <a:rPr sz="1600" b="1" i="0">
                <a:solidFill>
                  <a:srgbClr val="0968B1"/>
                </a:solidFill>
                <a:latin typeface="Calibri"/>
              </a:rPr>
              <a:t>Propuesta: un piloto con empresas intervenidas y un grupo de comparación.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"/>
              </a:rPr>
              <a:t>Cifras del análisis, por validar. No se calculó un valor total para toda la cartera ni se evaluó si un cambio de esa magnitud es alcanzable para cada empresa.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68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Calibri"/>
              </a:rPr>
              <a:t>Un modelo que acierta y que se puede explicar: usarlo ya y probar las palancas con un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F3"/>
                </a:solidFill>
                <a:latin typeface="Calibri"/>
              </a:rPr>
              <a:t>Problema 1 · Aporte mensual de las empresas afiliadas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282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F3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65960"/>
            <a:ext cx="548640" cy="54864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3A6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116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3A63"/>
                </a:solidFill>
                <a:latin typeface="Calibri"/>
              </a:rPr>
              <a:t>Usar 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La estimación del aporte como referencia en la conversación con cada empresa.</a:t>
            </a:r>
          </a:p>
          <a:p>
            <a:pPr algn="l"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La explicación por factor para decidir dónde conversar.</a:t>
            </a:r>
          </a:p>
          <a:p>
            <a:pPr algn="l"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El rango (aprox. −5 % a +5 %) para detectar aportes atípicos.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37360"/>
            <a:ext cx="352044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1999" y="1965960"/>
            <a:ext cx="548640" cy="54864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3A63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799" y="20116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3A63"/>
                </a:solidFill>
                <a:latin typeface="Calibri"/>
              </a:rPr>
              <a:t>Probar con un piloto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74320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Formalización, servicios contratados y digitalización.</a:t>
            </a:r>
          </a:p>
          <a:p>
            <a:pPr algn="l"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Un grupo de empresas intervenidas y otro de comparación.</a:t>
            </a:r>
          </a:p>
          <a:p>
            <a:pPr algn="l"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Tamaño y duración por definir con la gerencia.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37360"/>
            <a:ext cx="352044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rgbClr val="FF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3A63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3A63"/>
                </a:solidFill>
                <a:latin typeface="Calibri"/>
              </a:rPr>
              <a:t>Para fortalecer el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Definir con la gerencia los indicadores de éxito del piloto.</a:t>
            </a:r>
          </a:p>
          <a:p>
            <a:pPr algn="l"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Actualizar el modelo de forma periódica con datos nuevos.</a:t>
            </a:r>
          </a:p>
          <a:p>
            <a:pPr algn="l" marL="228600" indent="-228600">
              <a:spcBef>
                <a:spcPts val="800"/>
              </a:spcBef>
              <a:buFont typeface="Arial"/>
              <a:buChar char="•"/>
            </a:pPr>
            <a:r>
              <a:rPr sz="1400" b="0" i="0">
                <a:solidFill>
                  <a:srgbClr val="1F2D3D"/>
                </a:solidFill>
                <a:latin typeface="Calibri"/>
              </a:rPr>
              <a:t>Validar el rango por tipo de empresa y qué pasa sin las empresas muy grandes.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FFCF00"/>
                </a:solidFill>
                <a:latin typeface="Calibri"/>
              </a:rPr>
              <a:t>4,1 %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48640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de error típico, con una explicación que cualquier equipo puede leer: qué pesa, cuánto vale y por qué una empresa aporta lo que aporta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